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Name, affiliation, one sentence: 'This talk is about turning a solar system's data into answers you can check.'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Tell the radio-station story in your own words: solar, grid and a generator; you read the inverter, meter and generator hours by hand, wrote them down, and later worked out ROI, solar contribution and consumption for management. Gaps appeared whenever you were busy. Confirm the details (Q02) and keep the station unnamed.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Ember: 1,721 MW imported in the 12 months to June 2025, and no data on how much is installed or working. Suny installer survey: 6 of 7 had 1–2 return visits a year. The third card needs Q03 (how many of how many installers reported low maintenance habits). If there is no count, drop the card and say 'installers told 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 in a 10-minute slot. The same readings give a 5.1-year or 0.9-year payback depending on whether solar replaced the grid or a petrol generator. Most calculations assume the grid. Synthetic, 120 days; the petrol figure is an upper bound.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 Describe the outcome before naming the technology: plain-language answers, each with an evidence receipt (finding, data window, measurements, alternatives, assumptions). Then: 'Claude chooses the tools and writes the explanation; it never computes the engineering answer.'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 Walk the flow left to right once. Stress the boundary: the model never sees evaluation labels and never computes an engineering value itself.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 The contribution is the method. Each separation stops a known failure: leaking ground truth, unbounded access, LLM arithmetic, unverifiable answers, and scoring prose as if it were diagnosis.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2 × 2 design: 60 days vs. 24 hours of history; all components vs. inverter only. Disjoint development and evaluation installations; frozen protocol; three observation-quality levels.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Same diagnostic policy throughout; only the information changes. 233 of 240 (95% installation-cluster interval 95.4–98.8%). An inverter app's last-day view is roughly the bottom bar. These are information ablations, not competing products.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 in a 10-minute slot. Severe corruption: full access falls to 90.0%. Restricted conditions often abstain rather than guess, which is the behaviour we want.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24 conversations, one development seed. Every reply was wrapped in a Markdown fence, so the strict JSON contract failed 24 of 24. With the fences removed, labels matched 24 of 24 but citations were valid in only 15. Fixing this is next.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s. Live if the venue network allows, otherwise the recorded video (Drive: IDL interface Record.mp4). Q1 shows weather vs. fault. Q2: open the receipt and point at the assumptions. Q3: it refuses to diagnose the data gap.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Say the limits before the audience does. The contribution is a method, a reference implementation and a controlled worked evaluation. Field accuracy is the next study.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The pilot needs no new hardware: weekly inverter-counter photos and exports. Installers' notes from return visits become the reference labels. There is no funding yet. Ask the room for installers and sites.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Read the line, then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field data or edge device yet. Synthetic installations give known faults, disjoint seeds and a frozen protocol: the methodology claim.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1,851 kWh: 5.1 vs. 0.9 years payback; 883 vs. 3,481 kg CO2. Grid 0.477 kg/kWh (IFI); petrol 2.35 kg/L (EPA). Petrol is an upper bound.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Secondary, exploratory analysis; see the Timing Supplement.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Fresh clone; run the benchmark; verify an archive without contacting any API.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44"/>
        </a:solidFill>
        <a:effectLst/>
      </p:bgPr>
    </p:bg>
    <p:spTree>
      <p:nvGrpSpPr>
        <p:cNvPr id="1" name=""/>
        <p:cNvGrpSpPr/>
        <p:nvPr/>
      </p:nvGrpSpPr>
      <p:grpSpPr/>
      <p:sp>
        <p:nvSpPr>
          <p:cNvPr id="2" name="TextBox 1"/>
          <p:cNvSpPr txBox="1"/>
          <p:nvPr/>
        </p:nvSpPr>
        <p:spPr>
          <a:xfrm>
            <a:off x="548640" y="1463040"/>
            <a:ext cx="11094415" cy="2011680"/>
          </a:xfrm>
          <a:prstGeom prst="rect">
            <a:avLst/>
          </a:prstGeom>
          <a:noFill/>
        </p:spPr>
        <p:txBody>
          <a:bodyPr wrap="square" anchor="t" lIns="45720" rIns="45720">
            <a:spAutoFit/>
          </a:bodyPr>
          <a:lstStyle/>
          <a:p>
            <a:pPr algn="l">
              <a:spcAft>
                <a:spcPts val="600"/>
              </a:spcAft>
            </a:pPr>
            <a:r>
              <a:rPr sz="3600" b="1" i="0">
                <a:solidFill>
                  <a:srgbClr val="FFFFFF"/>
                </a:solidFill>
                <a:latin typeface="Calibri"/>
              </a:rPr>
              <a:t>A reproducible methodology for evidence-grounded conversational diagnostics of solar PV–battery systems</a:t>
            </a:r>
          </a:p>
        </p:txBody>
      </p:sp>
      <p:sp>
        <p:nvSpPr>
          <p:cNvPr id="3" name="TextBox 2"/>
          <p:cNvSpPr txBox="1"/>
          <p:nvPr/>
        </p:nvSpPr>
        <p:spPr>
          <a:xfrm>
            <a:off x="548640" y="3566160"/>
            <a:ext cx="11094415" cy="457200"/>
          </a:xfrm>
          <a:prstGeom prst="rect">
            <a:avLst/>
          </a:prstGeom>
          <a:noFill/>
        </p:spPr>
        <p:txBody>
          <a:bodyPr wrap="square" anchor="t" lIns="45720" rIns="45720">
            <a:spAutoFit/>
          </a:bodyPr>
          <a:lstStyle/>
          <a:p>
            <a:pPr algn="l">
              <a:spcAft>
                <a:spcPts val="600"/>
              </a:spcAft>
            </a:pPr>
            <a:r>
              <a:rPr sz="2200" b="0" i="0">
                <a:solidFill>
                  <a:srgbClr val="D5DAE3"/>
                </a:solidFill>
                <a:latin typeface="Calibri"/>
              </a:rPr>
              <a:t>Implementation and synthetic evaluation</a:t>
            </a:r>
          </a:p>
        </p:txBody>
      </p:sp>
      <p:sp>
        <p:nvSpPr>
          <p:cNvPr id="4" name="TextBox 3"/>
          <p:cNvSpPr txBox="1"/>
          <p:nvPr/>
        </p:nvSpPr>
        <p:spPr>
          <a:xfrm>
            <a:off x="548640" y="4480560"/>
            <a:ext cx="7315200" cy="914400"/>
          </a:xfrm>
          <a:prstGeom prst="rect">
            <a:avLst/>
          </a:prstGeom>
          <a:noFill/>
        </p:spPr>
        <p:txBody>
          <a:bodyPr wrap="square" anchor="t" lIns="45720" rIns="45720">
            <a:spAutoFit/>
          </a:bodyPr>
          <a:lstStyle/>
          <a:p>
            <a:pPr algn="l">
              <a:spcAft>
                <a:spcPts val="600"/>
              </a:spcAft>
            </a:pPr>
            <a:r>
              <a:rPr sz="1600" b="0" i="0">
                <a:solidFill>
                  <a:srgbClr val="D5DAE3"/>
                </a:solidFill>
                <a:latin typeface="Calibri"/>
              </a:rPr>
              <a:t>Daniel Oyewola Oyewale · Fitzroy Meyer-Petgrave</a:t>
            </a:r>
          </a:p>
          <a:p>
            <a:pPr algn="l">
              <a:spcAft>
                <a:spcPts val="600"/>
              </a:spcAft>
            </a:pPr>
            <a:r>
              <a:rPr sz="1600" b="0" i="0">
                <a:solidFill>
                  <a:srgbClr val="D5DAE3"/>
                </a:solidFill>
                <a:latin typeface="Calibri"/>
              </a:rPr>
              <a:t>Petgrave.io Technologies Ltd, Nigeria · NASEF 2026</a:t>
            </a:r>
          </a:p>
        </p:txBody>
      </p:sp>
      <p:sp>
        <p:nvSpPr>
          <p:cNvPr id="5" name="Rounded Rectangle 4"/>
          <p:cNvSpPr/>
          <p:nvPr/>
        </p:nvSpPr>
        <p:spPr>
          <a:xfrm>
            <a:off x="9814255" y="4389120"/>
            <a:ext cx="1828800" cy="1828800"/>
          </a:xfrm>
          <a:prstGeom prst="roundRect">
            <a:avLst>
              <a:gd name="adj" fmla="val 6000"/>
            </a:avLst>
          </a:prstGeom>
          <a:noFill/>
          <a:ln w="12700">
            <a:solidFill>
              <a:srgbClr val="AEB6C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14255" y="4389120"/>
            <a:ext cx="1828800" cy="1828800"/>
          </a:xfrm>
          <a:prstGeom prst="rect">
            <a:avLst/>
          </a:prstGeom>
          <a:noFill/>
        </p:spPr>
        <p:txBody>
          <a:bodyPr wrap="square" anchor="ctr" lIns="45720" rIns="45720">
            <a:spAutoFit/>
          </a:bodyPr>
          <a:lstStyle/>
          <a:p>
            <a:pPr algn="ctr">
              <a:spcAft>
                <a:spcPts val="600"/>
              </a:spcAft>
            </a:pPr>
            <a:r>
              <a:rPr sz="1000" b="0" i="0">
                <a:solidFill>
                  <a:srgbClr val="D5DAE3"/>
                </a:solidFill>
                <a:latin typeface="Calibri"/>
              </a:rPr>
              <a:t>[QR: live demo]</a:t>
            </a:r>
          </a:p>
          <a:p>
            <a:pPr algn="ctr">
              <a:spcAft>
                <a:spcPts val="600"/>
              </a:spcAft>
            </a:pPr>
            <a:r>
              <a:rPr sz="1000" b="0" i="0">
                <a:solidFill>
                  <a:srgbClr val="D5DAE3"/>
                </a:solidFill>
                <a:latin typeface="Calibri"/>
              </a:rPr>
              <a:t>engr-daniel.github.io/</a:t>
            </a:r>
          </a:p>
          <a:p>
            <a:pPr algn="ctr">
              <a:spcAft>
                <a:spcPts val="600"/>
              </a:spcAft>
            </a:pPr>
            <a:r>
              <a:rPr sz="1000" b="0" i="0">
                <a:solidFill>
                  <a:srgbClr val="D5DAE3"/>
                </a:solidFill>
                <a:latin typeface="Calibri"/>
              </a:rPr>
              <a:t>intelligent-data-logger-demo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3200400" cy="274320"/>
          </a:xfrm>
          <a:prstGeom prst="rect">
            <a:avLst/>
          </a:prstGeom>
          <a:noFill/>
        </p:spPr>
        <p:txBody>
          <a:bodyPr wrap="square" anchor="t" lIns="45720" rIns="45720">
            <a:spAutoFit/>
          </a:bodyPr>
          <a:lstStyle/>
          <a:p>
            <a:pPr algn="l">
              <a:spcAft>
                <a:spcPts val="600"/>
              </a:spcAft>
            </a:pPr>
            <a:r>
              <a:rPr sz="1100" b="1" i="0">
                <a:solidFill>
                  <a:srgbClr val="7E8AA3"/>
                </a:solidFill>
                <a:latin typeface="Calibri"/>
              </a:rPr>
              <a:t>THE PROBLEM WE NOTICED</a:t>
            </a:r>
          </a:p>
        </p:txBody>
      </p:sp>
      <p:sp>
        <p:nvSpPr>
          <p:cNvPr id="3" name="TextBox 2"/>
          <p:cNvSpPr txBox="1"/>
          <p:nvPr/>
        </p:nvSpPr>
        <p:spPr>
          <a:xfrm>
            <a:off x="548640" y="502920"/>
            <a:ext cx="11094415" cy="914400"/>
          </a:xfrm>
          <a:prstGeom prst="rect">
            <a:avLst/>
          </a:prstGeom>
          <a:noFill/>
        </p:spPr>
        <p:txBody>
          <a:bodyPr wrap="square" anchor="t" lIns="45720" rIns="45720">
            <a:spAutoFit/>
          </a:bodyPr>
          <a:lstStyle/>
          <a:p>
            <a:pPr algn="l">
              <a:spcAft>
                <a:spcPts val="600"/>
              </a:spcAft>
            </a:pPr>
            <a:r>
              <a:rPr sz="3000" b="1" i="0">
                <a:solidFill>
                  <a:srgbClr val="1E2A44"/>
                </a:solidFill>
                <a:latin typeface="Calibri"/>
              </a:rPr>
              <a:t>The system already keeps a diary. Somebody still has to read it</a:t>
            </a:r>
          </a:p>
        </p:txBody>
      </p:sp>
      <p:sp>
        <p:nvSpPr>
          <p:cNvPr id="4" name="TextBox 3"/>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i="0">
                <a:solidFill>
                  <a:srgbClr val="5B6272"/>
                </a:solidFill>
                <a:latin typeface="Calibri"/>
              </a:rPr>
              <a:t>Oyewale &amp; Meyer-Petgrave · NASEF 2026 · Petgrave.io</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spcAft>
                <a:spcPts val="600"/>
              </a:spcAft>
            </a:pPr>
            <a:r>
              <a:rPr sz="1000" b="0" i="0">
                <a:solidFill>
                  <a:srgbClr val="5B6272"/>
                </a:solidFill>
                <a:latin typeface="Calibri"/>
              </a:rPr>
              <a:t>2</a:t>
            </a:r>
          </a:p>
        </p:txBody>
      </p:sp>
      <p:sp>
        <p:nvSpPr>
          <p:cNvPr id="6" name="Rounded Rectangle 5"/>
          <p:cNvSpPr/>
          <p:nvPr/>
        </p:nvSpPr>
        <p:spPr>
          <a:xfrm>
            <a:off x="548640" y="1645920"/>
            <a:ext cx="5120640" cy="4480560"/>
          </a:xfrm>
          <a:prstGeom prst="roundRect">
            <a:avLst>
              <a:gd name="adj" fmla="val 6000"/>
            </a:avLst>
          </a:prstGeom>
          <a:solidFill>
            <a:srgbClr val="FFFFFF"/>
          </a:solidFill>
          <a:ln w="12700">
            <a:solidFill>
              <a:srgbClr val="4A5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83080"/>
            <a:ext cx="4754879" cy="4206240"/>
          </a:xfrm>
          <a:prstGeom prst="rect">
            <a:avLst/>
          </a:prstGeom>
          <a:noFill/>
        </p:spPr>
        <p:txBody>
          <a:bodyPr wrap="square" anchor="ctr" lIns="45720" rIns="45720">
            <a:spAutoFit/>
          </a:bodyPr>
          <a:lstStyle/>
          <a:p>
            <a:pPr algn="ctr">
              <a:spcAft>
                <a:spcPts val="600"/>
              </a:spcAft>
            </a:pPr>
            <a:r>
              <a:rPr sz="1400" b="0" i="0">
                <a:solidFill>
                  <a:srgbClr val="5B6272"/>
                </a:solidFill>
                <a:latin typeface="Calibri"/>
              </a:rPr>
              <a:t>[Photo or drawing]</a:t>
            </a:r>
          </a:p>
          <a:p>
            <a:pPr algn="ctr">
              <a:spcAft>
                <a:spcPts val="600"/>
              </a:spcAft>
            </a:pPr>
            <a:r>
              <a:rPr sz="1400" b="0" i="0">
                <a:solidFill>
                  <a:srgbClr val="5B6272"/>
                </a:solidFill>
                <a:latin typeface="Calibri"/>
              </a:rPr>
              <a:t>A handwritten energy logbook beside an inverter screen</a:t>
            </a:r>
          </a:p>
        </p:txBody>
      </p:sp>
      <p:sp>
        <p:nvSpPr>
          <p:cNvPr id="8" name="Rounded Rectangle 7"/>
          <p:cNvSpPr/>
          <p:nvPr/>
        </p:nvSpPr>
        <p:spPr>
          <a:xfrm>
            <a:off x="6217920" y="1737360"/>
            <a:ext cx="5425135" cy="1234440"/>
          </a:xfrm>
          <a:prstGeom prst="roundRect">
            <a:avLst>
              <a:gd name="adj" fmla="val 6000"/>
            </a:avLst>
          </a:prstGeom>
          <a:solidFill>
            <a:srgbClr val="EEF0F3"/>
          </a:solidFill>
          <a:ln w="12700">
            <a:solidFill>
              <a:srgbClr val="AEB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47088"/>
            <a:ext cx="4967935" cy="411480"/>
          </a:xfrm>
          <a:prstGeom prst="rect">
            <a:avLst/>
          </a:prstGeom>
          <a:noFill/>
        </p:spPr>
        <p:txBody>
          <a:bodyPr wrap="square" anchor="t" lIns="45720" rIns="45720">
            <a:spAutoFit/>
          </a:bodyPr>
          <a:lstStyle/>
          <a:p>
            <a:pPr algn="l">
              <a:spcAft>
                <a:spcPts val="600"/>
              </a:spcAft>
            </a:pPr>
            <a:r>
              <a:rPr sz="2000" b="1" i="0">
                <a:solidFill>
                  <a:srgbClr val="1E2A44"/>
                </a:solidFill>
                <a:latin typeface="Calibri"/>
              </a:rPr>
              <a:t>Read by hand</a:t>
            </a:r>
          </a:p>
        </p:txBody>
      </p:sp>
      <p:sp>
        <p:nvSpPr>
          <p:cNvPr id="10" name="TextBox 9"/>
          <p:cNvSpPr txBox="1"/>
          <p:nvPr/>
        </p:nvSpPr>
        <p:spPr>
          <a:xfrm>
            <a:off x="6446520" y="2286000"/>
            <a:ext cx="4967935" cy="640080"/>
          </a:xfrm>
          <a:prstGeom prst="rect">
            <a:avLst/>
          </a:prstGeom>
          <a:noFill/>
        </p:spPr>
        <p:txBody>
          <a:bodyPr wrap="square" anchor="t" lIns="45720" rIns="45720">
            <a:spAutoFit/>
          </a:bodyPr>
          <a:lstStyle/>
          <a:p>
            <a:pPr algn="l">
              <a:spcAft>
                <a:spcPts val="600"/>
              </a:spcAft>
            </a:pPr>
            <a:r>
              <a:rPr sz="1500" b="0" i="0">
                <a:solidFill>
                  <a:srgbClr val="5B6272"/>
                </a:solidFill>
                <a:latin typeface="Calibri"/>
              </a:rPr>
              <a:t>Inverter, meter and generator hours, whenever someone remembers</a:t>
            </a:r>
          </a:p>
        </p:txBody>
      </p:sp>
      <p:sp>
        <p:nvSpPr>
          <p:cNvPr id="11" name="Rounded Rectangle 10"/>
          <p:cNvSpPr/>
          <p:nvPr/>
        </p:nvSpPr>
        <p:spPr>
          <a:xfrm>
            <a:off x="6217920" y="3200400"/>
            <a:ext cx="5425135" cy="1234440"/>
          </a:xfrm>
          <a:prstGeom prst="roundRect">
            <a:avLst>
              <a:gd name="adj" fmla="val 6000"/>
            </a:avLst>
          </a:prstGeom>
          <a:solidFill>
            <a:srgbClr val="EEF0F3"/>
          </a:solidFill>
          <a:ln w="12700">
            <a:solidFill>
              <a:srgbClr val="AEB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3310128"/>
            <a:ext cx="4967935" cy="411480"/>
          </a:xfrm>
          <a:prstGeom prst="rect">
            <a:avLst/>
          </a:prstGeom>
          <a:noFill/>
        </p:spPr>
        <p:txBody>
          <a:bodyPr wrap="square" anchor="t" lIns="45720" rIns="45720">
            <a:spAutoFit/>
          </a:bodyPr>
          <a:lstStyle/>
          <a:p>
            <a:pPr algn="l">
              <a:spcAft>
                <a:spcPts val="600"/>
              </a:spcAft>
            </a:pPr>
            <a:r>
              <a:rPr sz="2000" b="1" i="0">
                <a:solidFill>
                  <a:srgbClr val="1E2A44"/>
                </a:solidFill>
                <a:latin typeface="Calibri"/>
              </a:rPr>
              <a:t>Analysed by hand</a:t>
            </a:r>
          </a:p>
        </p:txBody>
      </p:sp>
      <p:sp>
        <p:nvSpPr>
          <p:cNvPr id="13" name="TextBox 12"/>
          <p:cNvSpPr txBox="1"/>
          <p:nvPr/>
        </p:nvSpPr>
        <p:spPr>
          <a:xfrm>
            <a:off x="6446520" y="3749039"/>
            <a:ext cx="4967935" cy="640080"/>
          </a:xfrm>
          <a:prstGeom prst="rect">
            <a:avLst/>
          </a:prstGeom>
          <a:noFill/>
        </p:spPr>
        <p:txBody>
          <a:bodyPr wrap="square" anchor="t" lIns="45720" rIns="45720">
            <a:spAutoFit/>
          </a:bodyPr>
          <a:lstStyle/>
          <a:p>
            <a:pPr algn="l">
              <a:spcAft>
                <a:spcPts val="600"/>
              </a:spcAft>
            </a:pPr>
            <a:r>
              <a:rPr sz="1500" b="0" i="0">
                <a:solidFill>
                  <a:srgbClr val="5B6272"/>
                </a:solidFill>
                <a:latin typeface="Calibri"/>
              </a:rPr>
              <a:t>ROI, solar contribution and consumption, worked out in the evenings</a:t>
            </a:r>
          </a:p>
        </p:txBody>
      </p:sp>
      <p:sp>
        <p:nvSpPr>
          <p:cNvPr id="14" name="Rounded Rectangle 13"/>
          <p:cNvSpPr/>
          <p:nvPr/>
        </p:nvSpPr>
        <p:spPr>
          <a:xfrm>
            <a:off x="6217920" y="4663440"/>
            <a:ext cx="5425135" cy="1234440"/>
          </a:xfrm>
          <a:prstGeom prst="roundRect">
            <a:avLst>
              <a:gd name="adj" fmla="val 6000"/>
            </a:avLst>
          </a:prstGeom>
          <a:solidFill>
            <a:srgbClr val="EEF0F3"/>
          </a:solidFill>
          <a:ln w="12700">
            <a:solidFill>
              <a:srgbClr val="AEB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773168"/>
            <a:ext cx="4967935" cy="411480"/>
          </a:xfrm>
          <a:prstGeom prst="rect">
            <a:avLst/>
          </a:prstGeom>
          <a:noFill/>
        </p:spPr>
        <p:txBody>
          <a:bodyPr wrap="square" anchor="t" lIns="45720" rIns="45720">
            <a:spAutoFit/>
          </a:bodyPr>
          <a:lstStyle/>
          <a:p>
            <a:pPr algn="l">
              <a:spcAft>
                <a:spcPts val="600"/>
              </a:spcAft>
            </a:pPr>
            <a:r>
              <a:rPr sz="2000" b="1" i="0">
                <a:solidFill>
                  <a:srgbClr val="1E2A44"/>
                </a:solidFill>
                <a:latin typeface="Calibri"/>
              </a:rPr>
              <a:t>Acted on late</a:t>
            </a:r>
          </a:p>
        </p:txBody>
      </p:sp>
      <p:sp>
        <p:nvSpPr>
          <p:cNvPr id="16" name="TextBox 15"/>
          <p:cNvSpPr txBox="1"/>
          <p:nvPr/>
        </p:nvSpPr>
        <p:spPr>
          <a:xfrm>
            <a:off x="6446520" y="5212079"/>
            <a:ext cx="4967935" cy="640080"/>
          </a:xfrm>
          <a:prstGeom prst="rect">
            <a:avLst/>
          </a:prstGeom>
          <a:noFill/>
        </p:spPr>
        <p:txBody>
          <a:bodyPr wrap="square" anchor="t" lIns="45720" rIns="45720">
            <a:spAutoFit/>
          </a:bodyPr>
          <a:lstStyle/>
          <a:p>
            <a:pPr algn="l">
              <a:spcAft>
                <a:spcPts val="600"/>
              </a:spcAft>
            </a:pPr>
            <a:r>
              <a:rPr sz="1500" b="0" i="0">
                <a:solidFill>
                  <a:srgbClr val="5B6272"/>
                </a:solidFill>
                <a:latin typeface="Calibri"/>
              </a:rPr>
              <a:t>Faults found when the power goes off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3200400" cy="274320"/>
          </a:xfrm>
          <a:prstGeom prst="rect">
            <a:avLst/>
          </a:prstGeom>
          <a:noFill/>
        </p:spPr>
        <p:txBody>
          <a:bodyPr wrap="square" anchor="t" lIns="45720" rIns="45720">
            <a:spAutoFit/>
          </a:bodyPr>
          <a:lstStyle/>
          <a:p>
            <a:pPr algn="l">
              <a:spcAft>
                <a:spcPts val="600"/>
              </a:spcAft>
            </a:pPr>
            <a:r>
              <a:rPr sz="1100" b="1" i="0">
                <a:solidFill>
                  <a:srgbClr val="7E8AA3"/>
                </a:solidFill>
                <a:latin typeface="Calibri"/>
              </a:rPr>
              <a:t>THE PROBLEM WE NOTICED</a:t>
            </a:r>
          </a:p>
        </p:txBody>
      </p:sp>
      <p:sp>
        <p:nvSpPr>
          <p:cNvPr id="3" name="TextBox 2"/>
          <p:cNvSpPr txBox="1"/>
          <p:nvPr/>
        </p:nvSpPr>
        <p:spPr>
          <a:xfrm>
            <a:off x="548640" y="502920"/>
            <a:ext cx="11094415" cy="914400"/>
          </a:xfrm>
          <a:prstGeom prst="rect">
            <a:avLst/>
          </a:prstGeom>
          <a:noFill/>
        </p:spPr>
        <p:txBody>
          <a:bodyPr wrap="square" anchor="t" lIns="45720" rIns="45720">
            <a:spAutoFit/>
          </a:bodyPr>
          <a:lstStyle/>
          <a:p>
            <a:pPr algn="l">
              <a:spcAft>
                <a:spcPts val="600"/>
              </a:spcAft>
            </a:pPr>
            <a:r>
              <a:rPr sz="3000" b="1" i="0">
                <a:solidFill>
                  <a:srgbClr val="1E2A44"/>
                </a:solidFill>
                <a:latin typeface="Calibri"/>
              </a:rPr>
              <a:t>Solar is spreading fast; checking on it is not</a:t>
            </a:r>
          </a:p>
        </p:txBody>
      </p:sp>
      <p:sp>
        <p:nvSpPr>
          <p:cNvPr id="4" name="TextBox 3"/>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i="0">
                <a:solidFill>
                  <a:srgbClr val="5B6272"/>
                </a:solidFill>
                <a:latin typeface="Calibri"/>
              </a:rPr>
              <a:t>Oyewale &amp; Meyer-Petgrave · NASEF 2026 · Petgrave.io</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spcAft>
                <a:spcPts val="600"/>
              </a:spcAft>
            </a:pPr>
            <a:r>
              <a:rPr sz="1000" b="0" i="0">
                <a:solidFill>
                  <a:srgbClr val="5B6272"/>
                </a:solidFill>
                <a:latin typeface="Calibri"/>
              </a:rPr>
              <a:t>3</a:t>
            </a:r>
          </a:p>
        </p:txBody>
      </p:sp>
      <p:sp>
        <p:nvSpPr>
          <p:cNvPr id="6" name="Rounded Rectangle 5"/>
          <p:cNvSpPr/>
          <p:nvPr/>
        </p:nvSpPr>
        <p:spPr>
          <a:xfrm>
            <a:off x="548640" y="1828800"/>
            <a:ext cx="3515258" cy="3291840"/>
          </a:xfrm>
          <a:prstGeom prst="roundRect">
            <a:avLst>
              <a:gd name="adj" fmla="val 6000"/>
            </a:avLst>
          </a:prstGeom>
          <a:solidFill>
            <a:srgbClr val="1E2A44"/>
          </a:solidFill>
          <a:ln w="12700">
            <a:solidFill>
              <a:srgbClr val="1E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57400"/>
            <a:ext cx="3058058" cy="914400"/>
          </a:xfrm>
          <a:prstGeom prst="rect">
            <a:avLst/>
          </a:prstGeom>
          <a:noFill/>
        </p:spPr>
        <p:txBody>
          <a:bodyPr wrap="square" anchor="t" lIns="45720" rIns="45720">
            <a:spAutoFit/>
          </a:bodyPr>
          <a:lstStyle/>
          <a:p>
            <a:pPr algn="l">
              <a:spcAft>
                <a:spcPts val="600"/>
              </a:spcAft>
            </a:pPr>
            <a:r>
              <a:rPr sz="4000" b="1" i="0">
                <a:solidFill>
                  <a:srgbClr val="FFFFFF"/>
                </a:solidFill>
                <a:latin typeface="Calibri"/>
              </a:rPr>
              <a:t>1,721 MW</a:t>
            </a:r>
          </a:p>
        </p:txBody>
      </p:sp>
      <p:sp>
        <p:nvSpPr>
          <p:cNvPr id="8" name="TextBox 7"/>
          <p:cNvSpPr txBox="1"/>
          <p:nvPr/>
        </p:nvSpPr>
        <p:spPr>
          <a:xfrm>
            <a:off x="777240" y="3017520"/>
            <a:ext cx="3058058" cy="1965960"/>
          </a:xfrm>
          <a:prstGeom prst="rect">
            <a:avLst/>
          </a:prstGeom>
          <a:noFill/>
        </p:spPr>
        <p:txBody>
          <a:bodyPr wrap="square" anchor="t" lIns="45720" rIns="45720">
            <a:spAutoFit/>
          </a:bodyPr>
          <a:lstStyle/>
          <a:p>
            <a:pPr algn="l">
              <a:spcAft>
                <a:spcPts val="600"/>
              </a:spcAft>
            </a:pPr>
            <a:r>
              <a:rPr sz="1500" b="0" i="0">
                <a:solidFill>
                  <a:srgbClr val="D5DAE3"/>
                </a:solidFill>
                <a:latin typeface="Calibri"/>
              </a:rPr>
              <a:t>of solar panels imported by Nigeria in a year. Installed performance is not tracked. (Ember, 2025)</a:t>
            </a:r>
          </a:p>
        </p:txBody>
      </p:sp>
      <p:sp>
        <p:nvSpPr>
          <p:cNvPr id="9" name="Rounded Rectangle 8"/>
          <p:cNvSpPr/>
          <p:nvPr/>
        </p:nvSpPr>
        <p:spPr>
          <a:xfrm>
            <a:off x="4338218" y="1828800"/>
            <a:ext cx="3515258" cy="3291840"/>
          </a:xfrm>
          <a:prstGeom prst="roundRect">
            <a:avLst>
              <a:gd name="adj" fmla="val 6000"/>
            </a:avLst>
          </a:prstGeom>
          <a:solidFill>
            <a:srgbClr val="EEF0F3"/>
          </a:solidFill>
          <a:ln w="12700">
            <a:solidFill>
              <a:srgbClr val="AEB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6818" y="2057400"/>
            <a:ext cx="3058058" cy="914400"/>
          </a:xfrm>
          <a:prstGeom prst="rect">
            <a:avLst/>
          </a:prstGeom>
          <a:noFill/>
        </p:spPr>
        <p:txBody>
          <a:bodyPr wrap="square" anchor="t" lIns="45720" rIns="45720">
            <a:spAutoFit/>
          </a:bodyPr>
          <a:lstStyle/>
          <a:p>
            <a:pPr algn="l">
              <a:spcAft>
                <a:spcPts val="600"/>
              </a:spcAft>
            </a:pPr>
            <a:r>
              <a:rPr sz="4000" b="1" i="0">
                <a:solidFill>
                  <a:srgbClr val="1E2A44"/>
                </a:solidFill>
                <a:latin typeface="Calibri"/>
              </a:rPr>
              <a:t>6 of 7</a:t>
            </a:r>
          </a:p>
        </p:txBody>
      </p:sp>
      <p:sp>
        <p:nvSpPr>
          <p:cNvPr id="11" name="TextBox 10"/>
          <p:cNvSpPr txBox="1"/>
          <p:nvPr/>
        </p:nvSpPr>
        <p:spPr>
          <a:xfrm>
            <a:off x="4566818" y="3017520"/>
            <a:ext cx="3058058" cy="1965960"/>
          </a:xfrm>
          <a:prstGeom prst="rect">
            <a:avLst/>
          </a:prstGeom>
          <a:noFill/>
        </p:spPr>
        <p:txBody>
          <a:bodyPr wrap="square" anchor="t" lIns="45720" rIns="45720">
            <a:spAutoFit/>
          </a:bodyPr>
          <a:lstStyle/>
          <a:p>
            <a:pPr algn="l">
              <a:spcAft>
                <a:spcPts val="600"/>
              </a:spcAft>
            </a:pPr>
            <a:r>
              <a:rPr sz="1500" b="0" i="0">
                <a:solidFill>
                  <a:srgbClr val="5B6272"/>
                </a:solidFill>
                <a:latin typeface="Calibri"/>
              </a:rPr>
              <a:t>installers asked had 1–2 jobs a year needing a return visit (Suny survey, 2026)</a:t>
            </a:r>
          </a:p>
        </p:txBody>
      </p:sp>
      <p:sp>
        <p:nvSpPr>
          <p:cNvPr id="12" name="Rounded Rectangle 11"/>
          <p:cNvSpPr/>
          <p:nvPr/>
        </p:nvSpPr>
        <p:spPr>
          <a:xfrm>
            <a:off x="8127796" y="1828800"/>
            <a:ext cx="3515258" cy="3291840"/>
          </a:xfrm>
          <a:prstGeom prst="roundRect">
            <a:avLst>
              <a:gd name="adj" fmla="val 6000"/>
            </a:avLst>
          </a:prstGeom>
          <a:solidFill>
            <a:srgbClr val="FFFFFF"/>
          </a:solidFill>
          <a:ln w="12700">
            <a:solidFill>
              <a:srgbClr val="4A5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56396" y="2057400"/>
            <a:ext cx="3058058" cy="914400"/>
          </a:xfrm>
          <a:prstGeom prst="rect">
            <a:avLst/>
          </a:prstGeom>
          <a:noFill/>
        </p:spPr>
        <p:txBody>
          <a:bodyPr wrap="square" anchor="t" lIns="45720" rIns="45720">
            <a:spAutoFit/>
          </a:bodyPr>
          <a:lstStyle/>
          <a:p>
            <a:pPr algn="l">
              <a:spcAft>
                <a:spcPts val="600"/>
              </a:spcAft>
            </a:pPr>
            <a:r>
              <a:rPr sz="4000" b="1" i="0">
                <a:solidFill>
                  <a:srgbClr val="5B6272"/>
                </a:solidFill>
                <a:latin typeface="Calibri"/>
              </a:rPr>
              <a:t>n of N</a:t>
            </a:r>
          </a:p>
        </p:txBody>
      </p:sp>
      <p:sp>
        <p:nvSpPr>
          <p:cNvPr id="14" name="TextBox 13"/>
          <p:cNvSpPr txBox="1"/>
          <p:nvPr/>
        </p:nvSpPr>
        <p:spPr>
          <a:xfrm>
            <a:off x="8356396" y="3017520"/>
            <a:ext cx="3058058" cy="1965960"/>
          </a:xfrm>
          <a:prstGeom prst="rect">
            <a:avLst/>
          </a:prstGeom>
          <a:noFill/>
        </p:spPr>
        <p:txBody>
          <a:bodyPr wrap="square" anchor="t" lIns="45720" rIns="45720">
            <a:spAutoFit/>
          </a:bodyPr>
          <a:lstStyle/>
          <a:p>
            <a:pPr algn="l">
              <a:spcAft>
                <a:spcPts val="600"/>
              </a:spcAft>
            </a:pPr>
            <a:r>
              <a:rPr sz="1500" b="0" i="0">
                <a:solidFill>
                  <a:srgbClr val="5B6272"/>
                </a:solidFill>
                <a:latin typeface="Calibri"/>
              </a:rPr>
              <a:t>installers report low maintenance and check-up habits. [Fill from Q03]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3200400" cy="274320"/>
          </a:xfrm>
          <a:prstGeom prst="rect">
            <a:avLst/>
          </a:prstGeom>
          <a:noFill/>
        </p:spPr>
        <p:txBody>
          <a:bodyPr wrap="square" anchor="t" lIns="45720" rIns="45720">
            <a:spAutoFit/>
          </a:bodyPr>
          <a:lstStyle/>
          <a:p>
            <a:pPr algn="l">
              <a:spcAft>
                <a:spcPts val="600"/>
              </a:spcAft>
            </a:pPr>
            <a:r>
              <a:rPr sz="1100" b="1" i="0">
                <a:solidFill>
                  <a:srgbClr val="7E8AA3"/>
                </a:solidFill>
                <a:latin typeface="Calibri"/>
              </a:rPr>
              <a:t>WHY IT MATTERS</a:t>
            </a:r>
          </a:p>
        </p:txBody>
      </p:sp>
      <p:sp>
        <p:nvSpPr>
          <p:cNvPr id="3" name="TextBox 2"/>
          <p:cNvSpPr txBox="1"/>
          <p:nvPr/>
        </p:nvSpPr>
        <p:spPr>
          <a:xfrm>
            <a:off x="548640" y="502920"/>
            <a:ext cx="11094415" cy="914400"/>
          </a:xfrm>
          <a:prstGeom prst="rect">
            <a:avLst/>
          </a:prstGeom>
          <a:noFill/>
        </p:spPr>
        <p:txBody>
          <a:bodyPr wrap="square" anchor="t" lIns="45720" rIns="45720">
            <a:spAutoFit/>
          </a:bodyPr>
          <a:lstStyle/>
          <a:p>
            <a:pPr algn="l">
              <a:spcAft>
                <a:spcPts val="600"/>
              </a:spcAft>
            </a:pPr>
            <a:r>
              <a:rPr sz="3000" b="1" i="0">
                <a:solidFill>
                  <a:srgbClr val="1E2A44"/>
                </a:solidFill>
                <a:latin typeface="Calibri"/>
              </a:rPr>
              <a:t>Getting the answer wrong costs money, uptime and trust</a:t>
            </a:r>
          </a:p>
        </p:txBody>
      </p:sp>
      <p:sp>
        <p:nvSpPr>
          <p:cNvPr id="4" name="TextBox 3"/>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i="0">
                <a:solidFill>
                  <a:srgbClr val="5B6272"/>
                </a:solidFill>
                <a:latin typeface="Calibri"/>
              </a:rPr>
              <a:t>Oyewale &amp; Meyer-Petgrave · NASEF 2026 · Petgrave.io</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spcAft>
                <a:spcPts val="600"/>
              </a:spcAft>
            </a:pPr>
            <a:r>
              <a:rPr sz="1000" b="0" i="0">
                <a:solidFill>
                  <a:srgbClr val="5B6272"/>
                </a:solidFill>
                <a:latin typeface="Calibri"/>
              </a:rPr>
              <a:t>4</a:t>
            </a:r>
          </a:p>
        </p:txBody>
      </p:sp>
      <p:sp>
        <p:nvSpPr>
          <p:cNvPr id="6" name="TextBox 5"/>
          <p:cNvSpPr txBox="1"/>
          <p:nvPr/>
        </p:nvSpPr>
        <p:spPr>
          <a:xfrm>
            <a:off x="548640" y="1737360"/>
            <a:ext cx="6766560" cy="457200"/>
          </a:xfrm>
          <a:prstGeom prst="rect">
            <a:avLst/>
          </a:prstGeom>
          <a:noFill/>
        </p:spPr>
        <p:txBody>
          <a:bodyPr wrap="square" anchor="t" lIns="45720" rIns="45720">
            <a:spAutoFit/>
          </a:bodyPr>
          <a:lstStyle/>
          <a:p>
            <a:pPr algn="l">
              <a:spcAft>
                <a:spcPts val="600"/>
              </a:spcAft>
            </a:pPr>
            <a:r>
              <a:rPr sz="1600" b="1" i="0">
                <a:solidFill>
                  <a:srgbClr val="4A5878"/>
                </a:solidFill>
                <a:latin typeface="Calibri"/>
              </a:rPr>
              <a:t>Simple payback, same system, same readings</a:t>
            </a:r>
          </a:p>
        </p:txBody>
      </p:sp>
      <p:sp>
        <p:nvSpPr>
          <p:cNvPr id="7" name="TextBox 6"/>
          <p:cNvSpPr txBox="1"/>
          <p:nvPr/>
        </p:nvSpPr>
        <p:spPr>
          <a:xfrm>
            <a:off x="548640" y="2377440"/>
            <a:ext cx="2971800" cy="694944"/>
          </a:xfrm>
          <a:prstGeom prst="rect">
            <a:avLst/>
          </a:prstGeom>
          <a:noFill/>
        </p:spPr>
        <p:txBody>
          <a:bodyPr wrap="square" anchor="ctr" lIns="45720" rIns="45720">
            <a:spAutoFit/>
          </a:bodyPr>
          <a:lstStyle/>
          <a:p>
            <a:pPr algn="r">
              <a:spcAft>
                <a:spcPts val="600"/>
              </a:spcAft>
            </a:pPr>
            <a:r>
              <a:rPr sz="1600" b="1" i="0">
                <a:solidFill>
                  <a:srgbClr val="161B26"/>
                </a:solidFill>
                <a:latin typeface="Calibri"/>
              </a:rPr>
              <a:t>Solar replaced a petrol generator</a:t>
            </a:r>
          </a:p>
        </p:txBody>
      </p:sp>
      <p:sp>
        <p:nvSpPr>
          <p:cNvPr id="8" name="Rectangle 7"/>
          <p:cNvSpPr/>
          <p:nvPr/>
        </p:nvSpPr>
        <p:spPr>
          <a:xfrm>
            <a:off x="3657600" y="2468880"/>
            <a:ext cx="290456" cy="521207"/>
          </a:xfrm>
          <a:prstGeom prst="rect">
            <a:avLst/>
          </a:prstGeom>
          <a:solidFill>
            <a:srgbClr val="1E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39496" y="2377440"/>
            <a:ext cx="2103120" cy="694944"/>
          </a:xfrm>
          <a:prstGeom prst="rect">
            <a:avLst/>
          </a:prstGeom>
          <a:noFill/>
        </p:spPr>
        <p:txBody>
          <a:bodyPr wrap="square" anchor="ctr" lIns="45720" rIns="45720">
            <a:spAutoFit/>
          </a:bodyPr>
          <a:lstStyle/>
          <a:p>
            <a:pPr algn="l">
              <a:spcAft>
                <a:spcPts val="600"/>
              </a:spcAft>
            </a:pPr>
            <a:r>
              <a:rPr sz="1600" b="1" i="0">
                <a:solidFill>
                  <a:srgbClr val="161B26"/>
                </a:solidFill>
                <a:latin typeface="Calibri"/>
              </a:rPr>
              <a:t>0.9 years</a:t>
            </a:r>
          </a:p>
        </p:txBody>
      </p:sp>
      <p:sp>
        <p:nvSpPr>
          <p:cNvPr id="10" name="TextBox 9"/>
          <p:cNvSpPr txBox="1"/>
          <p:nvPr/>
        </p:nvSpPr>
        <p:spPr>
          <a:xfrm>
            <a:off x="548640" y="3246120"/>
            <a:ext cx="2971800" cy="694944"/>
          </a:xfrm>
          <a:prstGeom prst="rect">
            <a:avLst/>
          </a:prstGeom>
          <a:noFill/>
        </p:spPr>
        <p:txBody>
          <a:bodyPr wrap="square" anchor="ctr" lIns="45720" rIns="45720">
            <a:spAutoFit/>
          </a:bodyPr>
          <a:lstStyle/>
          <a:p>
            <a:pPr algn="r">
              <a:spcAft>
                <a:spcPts val="600"/>
              </a:spcAft>
            </a:pPr>
            <a:r>
              <a:rPr sz="1600" b="0" i="0">
                <a:solidFill>
                  <a:srgbClr val="5B6272"/>
                </a:solidFill>
                <a:latin typeface="Calibri"/>
              </a:rPr>
              <a:t>Solar replaced the grid</a:t>
            </a:r>
          </a:p>
        </p:txBody>
      </p:sp>
      <p:sp>
        <p:nvSpPr>
          <p:cNvPr id="11" name="Rectangle 10"/>
          <p:cNvSpPr/>
          <p:nvPr/>
        </p:nvSpPr>
        <p:spPr>
          <a:xfrm>
            <a:off x="3657600" y="3337560"/>
            <a:ext cx="1645919" cy="521207"/>
          </a:xfrm>
          <a:prstGeom prst="rect">
            <a:avLst/>
          </a:prstGeom>
          <a:solidFill>
            <a:srgbClr val="AEB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59" y="3246120"/>
            <a:ext cx="2103120" cy="694944"/>
          </a:xfrm>
          <a:prstGeom prst="rect">
            <a:avLst/>
          </a:prstGeom>
          <a:noFill/>
        </p:spPr>
        <p:txBody>
          <a:bodyPr wrap="square" anchor="ctr" lIns="45720" rIns="45720">
            <a:spAutoFit/>
          </a:bodyPr>
          <a:lstStyle/>
          <a:p>
            <a:pPr algn="l">
              <a:spcAft>
                <a:spcPts val="600"/>
              </a:spcAft>
            </a:pPr>
            <a:r>
              <a:rPr sz="1600" b="0" i="0">
                <a:solidFill>
                  <a:srgbClr val="5B6272"/>
                </a:solidFill>
                <a:latin typeface="Calibri"/>
              </a:rPr>
              <a:t>5.1 years</a:t>
            </a:r>
          </a:p>
        </p:txBody>
      </p:sp>
      <p:sp>
        <p:nvSpPr>
          <p:cNvPr id="13" name="TextBox 12"/>
          <p:cNvSpPr txBox="1"/>
          <p:nvPr/>
        </p:nvSpPr>
        <p:spPr>
          <a:xfrm>
            <a:off x="548640" y="4251960"/>
            <a:ext cx="6949440" cy="731520"/>
          </a:xfrm>
          <a:prstGeom prst="rect">
            <a:avLst/>
          </a:prstGeom>
          <a:noFill/>
        </p:spPr>
        <p:txBody>
          <a:bodyPr wrap="square" anchor="t" lIns="45720" rIns="45720">
            <a:spAutoFit/>
          </a:bodyPr>
          <a:lstStyle/>
          <a:p>
            <a:pPr algn="l">
              <a:spcAft>
                <a:spcPts val="600"/>
              </a:spcAft>
            </a:pPr>
            <a:r>
              <a:rPr sz="1200" b="0" i="0">
                <a:solidFill>
                  <a:srgbClr val="5B6272"/>
                </a:solidFill>
                <a:latin typeface="Calibri"/>
              </a:rPr>
              <a:t>₦6.5m system, 120 synthetic days. Petrol 0.8 L/kWh at ₦1,596.25/L (an upper bound); grid ₦225/kWh (demo value). The truth lies between.</a:t>
            </a:r>
          </a:p>
        </p:txBody>
      </p:sp>
      <p:sp>
        <p:nvSpPr>
          <p:cNvPr id="14" name="TextBox 13"/>
          <p:cNvSpPr txBox="1"/>
          <p:nvPr/>
        </p:nvSpPr>
        <p:spPr>
          <a:xfrm>
            <a:off x="7680960" y="1828800"/>
            <a:ext cx="3962095" cy="1188720"/>
          </a:xfrm>
          <a:prstGeom prst="rect">
            <a:avLst/>
          </a:prstGeom>
          <a:noFill/>
        </p:spPr>
        <p:txBody>
          <a:bodyPr wrap="square" anchor="t" lIns="45720" rIns="45720">
            <a:spAutoFit/>
          </a:bodyPr>
          <a:lstStyle/>
          <a:p>
            <a:pPr algn="l">
              <a:spcAft>
                <a:spcPts val="600"/>
              </a:spcAft>
            </a:pPr>
            <a:r>
              <a:rPr sz="1600" b="1" i="0">
                <a:solidFill>
                  <a:srgbClr val="161B26"/>
                </a:solidFill>
                <a:latin typeface="Calibri"/>
              </a:rPr>
              <a:t>Money: payback is 5.1 or 0.9 years from the same data, depending on what solar replaced</a:t>
            </a:r>
          </a:p>
        </p:txBody>
      </p:sp>
      <p:sp>
        <p:nvSpPr>
          <p:cNvPr id="15" name="TextBox 14"/>
          <p:cNvSpPr txBox="1"/>
          <p:nvPr/>
        </p:nvSpPr>
        <p:spPr>
          <a:xfrm>
            <a:off x="7680960" y="3108960"/>
            <a:ext cx="3962095" cy="1188720"/>
          </a:xfrm>
          <a:prstGeom prst="rect">
            <a:avLst/>
          </a:prstGeom>
          <a:noFill/>
        </p:spPr>
        <p:txBody>
          <a:bodyPr wrap="square" anchor="t" lIns="45720" rIns="45720">
            <a:spAutoFit/>
          </a:bodyPr>
          <a:lstStyle/>
          <a:p>
            <a:pPr algn="l">
              <a:spcAft>
                <a:spcPts val="600"/>
              </a:spcAft>
            </a:pPr>
            <a:r>
              <a:rPr sz="1600" b="0" i="0">
                <a:solidFill>
                  <a:srgbClr val="5B6272"/>
                </a:solidFill>
                <a:latin typeface="Calibri"/>
              </a:rPr>
              <a:t>Uptime: faults are found when the power goes off</a:t>
            </a:r>
          </a:p>
        </p:txBody>
      </p:sp>
      <p:sp>
        <p:nvSpPr>
          <p:cNvPr id="16" name="TextBox 15"/>
          <p:cNvSpPr txBox="1"/>
          <p:nvPr/>
        </p:nvSpPr>
        <p:spPr>
          <a:xfrm>
            <a:off x="7680960" y="4389120"/>
            <a:ext cx="3962095" cy="1188720"/>
          </a:xfrm>
          <a:prstGeom prst="rect">
            <a:avLst/>
          </a:prstGeom>
          <a:noFill/>
        </p:spPr>
        <p:txBody>
          <a:bodyPr wrap="square" anchor="t" lIns="45720" rIns="45720">
            <a:spAutoFit/>
          </a:bodyPr>
          <a:lstStyle/>
          <a:p>
            <a:pPr algn="l">
              <a:spcAft>
                <a:spcPts val="600"/>
              </a:spcAft>
            </a:pPr>
            <a:r>
              <a:rPr sz="1600" b="0" i="0">
                <a:solidFill>
                  <a:srgbClr val="5B6272"/>
                </a:solidFill>
                <a:latin typeface="Calibri"/>
              </a:rPr>
              <a:t>Trust: one unexplained failure teaches a street that solar is a gamble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3200400" cy="274320"/>
          </a:xfrm>
          <a:prstGeom prst="rect">
            <a:avLst/>
          </a:prstGeom>
          <a:noFill/>
        </p:spPr>
        <p:txBody>
          <a:bodyPr wrap="square" anchor="t" lIns="45720" rIns="45720">
            <a:spAutoFit/>
          </a:bodyPr>
          <a:lstStyle/>
          <a:p>
            <a:pPr algn="l">
              <a:spcAft>
                <a:spcPts val="600"/>
              </a:spcAft>
            </a:pPr>
            <a:r>
              <a:rPr sz="1100" b="1" i="0">
                <a:solidFill>
                  <a:srgbClr val="7E8AA3"/>
                </a:solidFill>
                <a:latin typeface="Calibri"/>
              </a:rPr>
              <a:t>THE SOLUTION</a:t>
            </a:r>
          </a:p>
        </p:txBody>
      </p:sp>
      <p:sp>
        <p:nvSpPr>
          <p:cNvPr id="3" name="TextBox 2"/>
          <p:cNvSpPr txBox="1"/>
          <p:nvPr/>
        </p:nvSpPr>
        <p:spPr>
          <a:xfrm>
            <a:off x="548640" y="502920"/>
            <a:ext cx="11094415" cy="914400"/>
          </a:xfrm>
          <a:prstGeom prst="rect">
            <a:avLst/>
          </a:prstGeom>
          <a:noFill/>
        </p:spPr>
        <p:txBody>
          <a:bodyPr wrap="square" anchor="t" lIns="45720" rIns="45720">
            <a:spAutoFit/>
          </a:bodyPr>
          <a:lstStyle/>
          <a:p>
            <a:pPr algn="l">
              <a:spcAft>
                <a:spcPts val="600"/>
              </a:spcAft>
            </a:pPr>
            <a:r>
              <a:rPr sz="3000" b="1" i="0">
                <a:solidFill>
                  <a:srgbClr val="1E2A44"/>
                </a:solidFill>
                <a:latin typeface="Calibri"/>
              </a:rPr>
              <a:t>Ask the system a question; get an answer you can check</a:t>
            </a:r>
          </a:p>
        </p:txBody>
      </p:sp>
      <p:sp>
        <p:nvSpPr>
          <p:cNvPr id="4" name="TextBox 3"/>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i="0">
                <a:solidFill>
                  <a:srgbClr val="5B6272"/>
                </a:solidFill>
                <a:latin typeface="Calibri"/>
              </a:rPr>
              <a:t>Oyewale &amp; Meyer-Petgrave · NASEF 2026 · Petgrave.io</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spcAft>
                <a:spcPts val="600"/>
              </a:spcAft>
            </a:pPr>
            <a:r>
              <a:rPr sz="1000" b="0" i="0">
                <a:solidFill>
                  <a:srgbClr val="5B6272"/>
                </a:solidFill>
                <a:latin typeface="Calibri"/>
              </a:rPr>
              <a:t>5</a:t>
            </a:r>
          </a:p>
        </p:txBody>
      </p:sp>
      <p:sp>
        <p:nvSpPr>
          <p:cNvPr id="6" name="Rounded Rectangle 5"/>
          <p:cNvSpPr/>
          <p:nvPr/>
        </p:nvSpPr>
        <p:spPr>
          <a:xfrm>
            <a:off x="548640" y="1920240"/>
            <a:ext cx="3108960" cy="1280160"/>
          </a:xfrm>
          <a:prstGeom prst="roundRect">
            <a:avLst>
              <a:gd name="adj" fmla="val 6000"/>
            </a:avLst>
          </a:prstGeom>
          <a:solidFill>
            <a:srgbClr val="EEF0F3"/>
          </a:solidFill>
          <a:ln w="12700">
            <a:solidFill>
              <a:srgbClr val="AEB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11680"/>
            <a:ext cx="2743200" cy="1097280"/>
          </a:xfrm>
          <a:prstGeom prst="rect">
            <a:avLst/>
          </a:prstGeom>
          <a:noFill/>
        </p:spPr>
        <p:txBody>
          <a:bodyPr wrap="square" anchor="ctr" lIns="45720" rIns="45720">
            <a:spAutoFit/>
          </a:bodyPr>
          <a:lstStyle/>
          <a:p>
            <a:pPr algn="l">
              <a:spcAft>
                <a:spcPts val="600"/>
              </a:spcAft>
            </a:pPr>
            <a:r>
              <a:rPr sz="1800" b="1" i="0">
                <a:solidFill>
                  <a:srgbClr val="1E2A44"/>
                </a:solidFill>
                <a:latin typeface="Calibri"/>
              </a:rPr>
              <a:t>“Why did our solar output drop on 5 August?”</a:t>
            </a:r>
          </a:p>
        </p:txBody>
      </p:sp>
      <p:sp>
        <p:nvSpPr>
          <p:cNvPr id="8" name="Rounded Rectangle 7"/>
          <p:cNvSpPr/>
          <p:nvPr/>
        </p:nvSpPr>
        <p:spPr>
          <a:xfrm>
            <a:off x="3931920" y="1737360"/>
            <a:ext cx="4023360" cy="4389120"/>
          </a:xfrm>
          <a:prstGeom prst="roundRect">
            <a:avLst>
              <a:gd name="adj" fmla="val 6000"/>
            </a:avLst>
          </a:prstGeom>
          <a:solidFill>
            <a:srgbClr val="FFFFFF"/>
          </a:solidFill>
          <a:ln w="12700">
            <a:solidFill>
              <a:srgbClr val="4A5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0" y="1874519"/>
            <a:ext cx="3657600" cy="4114800"/>
          </a:xfrm>
          <a:prstGeom prst="rect">
            <a:avLst/>
          </a:prstGeom>
          <a:noFill/>
        </p:spPr>
        <p:txBody>
          <a:bodyPr wrap="square" anchor="ctr" lIns="45720" rIns="45720">
            <a:spAutoFit/>
          </a:bodyPr>
          <a:lstStyle/>
          <a:p>
            <a:pPr algn="ctr">
              <a:spcAft>
                <a:spcPts val="600"/>
              </a:spcAft>
            </a:pPr>
            <a:r>
              <a:rPr sz="1400" b="0" i="0">
                <a:solidFill>
                  <a:srgbClr val="5B6272"/>
                </a:solidFill>
                <a:latin typeface="Calibri"/>
              </a:rPr>
              <a:t>[Dashboard screenshot]</a:t>
            </a:r>
          </a:p>
          <a:p>
            <a:pPr algn="ctr">
              <a:spcAft>
                <a:spcPts val="600"/>
              </a:spcAft>
            </a:pPr>
            <a:r>
              <a:rPr sz="1400" b="0" i="0">
                <a:solidFill>
                  <a:srgbClr val="5B6272"/>
                </a:solidFill>
                <a:latin typeface="Calibri"/>
              </a:rPr>
              <a:t>The answer, from the live demo</a:t>
            </a:r>
          </a:p>
        </p:txBody>
      </p:sp>
      <p:sp>
        <p:nvSpPr>
          <p:cNvPr id="10" name="Rounded Rectangle 9"/>
          <p:cNvSpPr/>
          <p:nvPr/>
        </p:nvSpPr>
        <p:spPr>
          <a:xfrm>
            <a:off x="8229600" y="1737360"/>
            <a:ext cx="3413455" cy="4389120"/>
          </a:xfrm>
          <a:prstGeom prst="roundRect">
            <a:avLst>
              <a:gd name="adj" fmla="val 6000"/>
            </a:avLst>
          </a:prstGeom>
          <a:solidFill>
            <a:srgbClr val="FFFFFF"/>
          </a:solidFill>
          <a:ln w="12700">
            <a:solidFill>
              <a:srgbClr val="1E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1828800"/>
            <a:ext cx="3047695" cy="365760"/>
          </a:xfrm>
          <a:prstGeom prst="rect">
            <a:avLst/>
          </a:prstGeom>
          <a:noFill/>
        </p:spPr>
        <p:txBody>
          <a:bodyPr wrap="square" anchor="t" lIns="45720" rIns="45720">
            <a:spAutoFit/>
          </a:bodyPr>
          <a:lstStyle/>
          <a:p>
            <a:pPr algn="l">
              <a:spcAft>
                <a:spcPts val="600"/>
              </a:spcAft>
            </a:pPr>
            <a:r>
              <a:rPr sz="1600" b="1" i="0">
                <a:solidFill>
                  <a:srgbClr val="1E2A44"/>
                </a:solidFill>
                <a:latin typeface="Calibri"/>
              </a:rPr>
              <a:t>Evidence receipt</a:t>
            </a:r>
          </a:p>
        </p:txBody>
      </p:sp>
      <p:sp>
        <p:nvSpPr>
          <p:cNvPr id="12" name="TextBox 11"/>
          <p:cNvSpPr txBox="1"/>
          <p:nvPr/>
        </p:nvSpPr>
        <p:spPr>
          <a:xfrm>
            <a:off x="8412480" y="2286000"/>
            <a:ext cx="3047695" cy="3749039"/>
          </a:xfrm>
          <a:prstGeom prst="rect">
            <a:avLst/>
          </a:prstGeom>
          <a:noFill/>
        </p:spPr>
        <p:txBody>
          <a:bodyPr wrap="square" anchor="t" lIns="45720" rIns="45720">
            <a:spAutoFit/>
          </a:bodyPr>
          <a:lstStyle/>
          <a:p>
            <a:pPr algn="l">
              <a:spcAft>
                <a:spcPts val="600"/>
              </a:spcAft>
            </a:pPr>
            <a:r>
              <a:rPr sz="1400" b="0" i="0">
                <a:solidFill>
                  <a:srgbClr val="5B6272"/>
                </a:solidFill>
                <a:latin typeface="Calibri"/>
              </a:rPr>
              <a:t>Finding · candidate cause</a:t>
            </a:r>
          </a:p>
          <a:p>
            <a:pPr algn="l">
              <a:spcAft>
                <a:spcPts val="600"/>
              </a:spcAft>
            </a:pPr>
            <a:r>
              <a:rPr sz="1400" b="0" i="0">
                <a:solidFill>
                  <a:srgbClr val="5B6272"/>
                </a:solidFill>
                <a:latin typeface="Calibri"/>
              </a:rPr>
              <a:t>Confidence</a:t>
            </a:r>
          </a:p>
          <a:p>
            <a:pPr algn="l">
              <a:spcAft>
                <a:spcPts val="600"/>
              </a:spcAft>
            </a:pPr>
            <a:r>
              <a:rPr sz="1400" b="0" i="0">
                <a:solidFill>
                  <a:srgbClr val="5B6272"/>
                </a:solidFill>
                <a:latin typeface="Calibri"/>
              </a:rPr>
              <a:t>Data window</a:t>
            </a:r>
          </a:p>
          <a:p>
            <a:pPr algn="l">
              <a:spcAft>
                <a:spcPts val="600"/>
              </a:spcAft>
            </a:pPr>
            <a:r>
              <a:rPr sz="1400" b="0" i="0">
                <a:solidFill>
                  <a:srgbClr val="5B6272"/>
                </a:solidFill>
                <a:latin typeface="Calibri"/>
              </a:rPr>
              <a:t>Measurements, with units</a:t>
            </a:r>
          </a:p>
          <a:p>
            <a:pPr algn="l">
              <a:spcAft>
                <a:spcPts val="600"/>
              </a:spcAft>
            </a:pPr>
            <a:r>
              <a:rPr sz="1400" b="0" i="0">
                <a:solidFill>
                  <a:srgbClr val="5B6272"/>
                </a:solidFill>
                <a:latin typeface="Calibri"/>
              </a:rPr>
              <a:t>Alternatives checked</a:t>
            </a:r>
          </a:p>
          <a:p>
            <a:pPr algn="l">
              <a:spcAft>
                <a:spcPts val="600"/>
              </a:spcAft>
            </a:pPr>
            <a:r>
              <a:rPr sz="1400" b="0" i="0">
                <a:solidFill>
                  <a:srgbClr val="5B6272"/>
                </a:solidFill>
                <a:latin typeface="Calibri"/>
              </a:rPr>
              <a:t>Data quality</a:t>
            </a:r>
          </a:p>
          <a:p>
            <a:pPr algn="l">
              <a:spcAft>
                <a:spcPts val="600"/>
              </a:spcAft>
            </a:pPr>
            <a:r>
              <a:rPr sz="1400" b="0" i="0">
                <a:solidFill>
                  <a:srgbClr val="5B6272"/>
                </a:solidFill>
                <a:latin typeface="Calibri"/>
              </a:rPr>
              <a:t>Assumptions</a:t>
            </a:r>
          </a:p>
          <a:p>
            <a:pPr algn="l">
              <a:spcAft>
                <a:spcPts val="600"/>
              </a:spcAft>
            </a:pPr>
            <a:r>
              <a:rPr sz="1400" b="0" i="0">
                <a:solidFill>
                  <a:srgbClr val="5B6272"/>
                </a:solidFill>
                <a:latin typeface="Calibri"/>
              </a:rPr>
              <a:t>Tools used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3200400" cy="274320"/>
          </a:xfrm>
          <a:prstGeom prst="rect">
            <a:avLst/>
          </a:prstGeom>
          <a:noFill/>
        </p:spPr>
        <p:txBody>
          <a:bodyPr wrap="square" anchor="t" lIns="45720" rIns="45720">
            <a:spAutoFit/>
          </a:bodyPr>
          <a:lstStyle/>
          <a:p>
            <a:pPr algn="l">
              <a:spcAft>
                <a:spcPts val="600"/>
              </a:spcAft>
            </a:pPr>
            <a:r>
              <a:rPr sz="1100" b="1" i="0">
                <a:solidFill>
                  <a:srgbClr val="7E8AA3"/>
                </a:solidFill>
                <a:latin typeface="Calibri"/>
              </a:rPr>
              <a:t>HOW IT WORKS</a:t>
            </a:r>
          </a:p>
        </p:txBody>
      </p:sp>
      <p:sp>
        <p:nvSpPr>
          <p:cNvPr id="3" name="TextBox 2"/>
          <p:cNvSpPr txBox="1"/>
          <p:nvPr/>
        </p:nvSpPr>
        <p:spPr>
          <a:xfrm>
            <a:off x="548640" y="502920"/>
            <a:ext cx="11094415" cy="914400"/>
          </a:xfrm>
          <a:prstGeom prst="rect">
            <a:avLst/>
          </a:prstGeom>
          <a:noFill/>
        </p:spPr>
        <p:txBody>
          <a:bodyPr wrap="square" anchor="t" lIns="45720" rIns="45720">
            <a:spAutoFit/>
          </a:bodyPr>
          <a:lstStyle/>
          <a:p>
            <a:pPr algn="l">
              <a:spcAft>
                <a:spcPts val="600"/>
              </a:spcAft>
            </a:pPr>
            <a:r>
              <a:rPr sz="3000" b="1" i="0">
                <a:solidFill>
                  <a:srgbClr val="1E2A44"/>
                </a:solidFill>
                <a:latin typeface="Calibri"/>
              </a:rPr>
              <a:t>The model chooses tools and explains; engineering truth comes from deterministic analytics</a:t>
            </a:r>
          </a:p>
        </p:txBody>
      </p:sp>
      <p:sp>
        <p:nvSpPr>
          <p:cNvPr id="4" name="TextBox 3"/>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i="0">
                <a:solidFill>
                  <a:srgbClr val="5B6272"/>
                </a:solidFill>
                <a:latin typeface="Calibri"/>
              </a:rPr>
              <a:t>Oyewale &amp; Meyer-Petgrave · NASEF 2026 · Petgrave.io</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spcAft>
                <a:spcPts val="600"/>
              </a:spcAft>
            </a:pPr>
            <a:r>
              <a:rPr sz="1000" b="0" i="0">
                <a:solidFill>
                  <a:srgbClr val="5B6272"/>
                </a:solidFill>
                <a:latin typeface="Calibri"/>
              </a:rPr>
              <a:t>6</a:t>
            </a:r>
          </a:p>
        </p:txBody>
      </p:sp>
      <p:sp>
        <p:nvSpPr>
          <p:cNvPr id="6" name="Rounded Rectangle 5"/>
          <p:cNvSpPr/>
          <p:nvPr/>
        </p:nvSpPr>
        <p:spPr>
          <a:xfrm>
            <a:off x="548640" y="1737360"/>
            <a:ext cx="11094415" cy="4480560"/>
          </a:xfrm>
          <a:prstGeom prst="roundRect">
            <a:avLst>
              <a:gd name="adj" fmla="val 6000"/>
            </a:avLst>
          </a:prstGeom>
          <a:solidFill>
            <a:srgbClr val="FFFFFF"/>
          </a:solidFill>
          <a:ln w="12700">
            <a:solidFill>
              <a:srgbClr val="4A5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74519"/>
            <a:ext cx="10728655" cy="4206240"/>
          </a:xfrm>
          <a:prstGeom prst="rect">
            <a:avLst/>
          </a:prstGeom>
          <a:noFill/>
        </p:spPr>
        <p:txBody>
          <a:bodyPr wrap="square" anchor="ctr" lIns="45720" rIns="45720">
            <a:spAutoFit/>
          </a:bodyPr>
          <a:lstStyle/>
          <a:p>
            <a:pPr algn="ctr">
              <a:spcAft>
                <a:spcPts val="600"/>
              </a:spcAft>
            </a:pPr>
            <a:r>
              <a:rPr sz="1400" b="0" i="0">
                <a:solidFill>
                  <a:srgbClr val="5B6272"/>
                </a:solidFill>
                <a:latin typeface="Calibri"/>
              </a:rPr>
              <a:t>[Fig2 · End-to-End Evidence-Grounded Workflow]</a:t>
            </a:r>
          </a:p>
          <a:p>
            <a:pPr algn="ctr">
              <a:spcAft>
                <a:spcPts val="600"/>
              </a:spcAft>
            </a:pPr>
            <a:r>
              <a:rPr sz="1400" b="0" i="0">
                <a:solidFill>
                  <a:srgbClr val="5B6272"/>
                </a:solidFill>
                <a:latin typeface="Calibri"/>
              </a:rPr>
              <a:t>Drive › Intelligent Data Logger › Figs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3200400" cy="274320"/>
          </a:xfrm>
          <a:prstGeom prst="rect">
            <a:avLst/>
          </a:prstGeom>
          <a:noFill/>
        </p:spPr>
        <p:txBody>
          <a:bodyPr wrap="square" anchor="t" lIns="45720" rIns="45720">
            <a:spAutoFit/>
          </a:bodyPr>
          <a:lstStyle/>
          <a:p>
            <a:pPr algn="l">
              <a:spcAft>
                <a:spcPts val="600"/>
              </a:spcAft>
            </a:pPr>
            <a:r>
              <a:rPr sz="1100" b="1" i="0">
                <a:solidFill>
                  <a:srgbClr val="7E8AA3"/>
                </a:solidFill>
                <a:latin typeface="Calibri"/>
              </a:rPr>
              <a:t>THE METHOD FOR BUILDING IT</a:t>
            </a:r>
          </a:p>
        </p:txBody>
      </p:sp>
      <p:sp>
        <p:nvSpPr>
          <p:cNvPr id="3" name="TextBox 2"/>
          <p:cNvSpPr txBox="1"/>
          <p:nvPr/>
        </p:nvSpPr>
        <p:spPr>
          <a:xfrm>
            <a:off x="548640" y="502920"/>
            <a:ext cx="11094415" cy="914400"/>
          </a:xfrm>
          <a:prstGeom prst="rect">
            <a:avLst/>
          </a:prstGeom>
          <a:noFill/>
        </p:spPr>
        <p:txBody>
          <a:bodyPr wrap="square" anchor="t" lIns="45720" rIns="45720">
            <a:spAutoFit/>
          </a:bodyPr>
          <a:lstStyle/>
          <a:p>
            <a:pPr algn="l">
              <a:spcAft>
                <a:spcPts val="600"/>
              </a:spcAft>
            </a:pPr>
            <a:r>
              <a:rPr sz="3000" b="1" i="0">
                <a:solidFill>
                  <a:srgbClr val="1E2A44"/>
                </a:solidFill>
                <a:latin typeface="Calibri"/>
              </a:rPr>
              <a:t>A method, not just a system: six separations keep the evaluation honest</a:t>
            </a:r>
          </a:p>
        </p:txBody>
      </p:sp>
      <p:sp>
        <p:nvSpPr>
          <p:cNvPr id="4" name="TextBox 3"/>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i="0">
                <a:solidFill>
                  <a:srgbClr val="5B6272"/>
                </a:solidFill>
                <a:latin typeface="Calibri"/>
              </a:rPr>
              <a:t>Oyewale &amp; Meyer-Petgrave · NASEF 2026 · Petgrave.io</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spcAft>
                <a:spcPts val="600"/>
              </a:spcAft>
            </a:pPr>
            <a:r>
              <a:rPr sz="1000" b="0" i="0">
                <a:solidFill>
                  <a:srgbClr val="5B6272"/>
                </a:solidFill>
                <a:latin typeface="Calibri"/>
              </a:rPr>
              <a:t>7</a:t>
            </a:r>
          </a:p>
        </p:txBody>
      </p:sp>
      <p:sp>
        <p:nvSpPr>
          <p:cNvPr id="6" name="Rounded Rectangle 5"/>
          <p:cNvSpPr/>
          <p:nvPr/>
        </p:nvSpPr>
        <p:spPr>
          <a:xfrm>
            <a:off x="548640" y="1737360"/>
            <a:ext cx="6035040" cy="4480560"/>
          </a:xfrm>
          <a:prstGeom prst="roundRect">
            <a:avLst>
              <a:gd name="adj" fmla="val 6000"/>
            </a:avLst>
          </a:prstGeom>
          <a:solidFill>
            <a:srgbClr val="FFFFFF"/>
          </a:solidFill>
          <a:ln w="12700">
            <a:solidFill>
              <a:srgbClr val="4A5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74519"/>
            <a:ext cx="5669279" cy="4206240"/>
          </a:xfrm>
          <a:prstGeom prst="rect">
            <a:avLst/>
          </a:prstGeom>
          <a:noFill/>
        </p:spPr>
        <p:txBody>
          <a:bodyPr wrap="square" anchor="ctr" lIns="45720" rIns="45720">
            <a:spAutoFit/>
          </a:bodyPr>
          <a:lstStyle/>
          <a:p>
            <a:pPr algn="ctr">
              <a:spcAft>
                <a:spcPts val="600"/>
              </a:spcAft>
            </a:pPr>
            <a:r>
              <a:rPr sz="1400" b="0" i="0">
                <a:solidFill>
                  <a:srgbClr val="5B6272"/>
                </a:solidFill>
                <a:latin typeface="Calibri"/>
              </a:rPr>
              <a:t>[Fig1 · Evidence-Grounded Diagnostic Methodology]</a:t>
            </a:r>
          </a:p>
          <a:p>
            <a:pPr algn="ctr">
              <a:spcAft>
                <a:spcPts val="600"/>
              </a:spcAft>
            </a:pPr>
            <a:r>
              <a:rPr sz="1400" b="0" i="0">
                <a:solidFill>
                  <a:srgbClr val="5B6272"/>
                </a:solidFill>
                <a:latin typeface="Calibri"/>
              </a:rPr>
              <a:t>Drive › Figs</a:t>
            </a:r>
          </a:p>
        </p:txBody>
      </p:sp>
      <p:sp>
        <p:nvSpPr>
          <p:cNvPr id="8" name="Rounded Rectangle 7"/>
          <p:cNvSpPr/>
          <p:nvPr/>
        </p:nvSpPr>
        <p:spPr>
          <a:xfrm>
            <a:off x="6858000" y="1783080"/>
            <a:ext cx="502920" cy="502920"/>
          </a:xfrm>
          <a:prstGeom prst="roundRect">
            <a:avLst>
              <a:gd name="adj" fmla="val 6000"/>
            </a:avLst>
          </a:prstGeom>
          <a:solidFill>
            <a:srgbClr val="1E2A44"/>
          </a:solidFill>
          <a:ln w="12700">
            <a:solidFill>
              <a:srgbClr val="1E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1783080"/>
            <a:ext cx="502920" cy="502920"/>
          </a:xfrm>
          <a:prstGeom prst="rect">
            <a:avLst/>
          </a:prstGeom>
          <a:noFill/>
        </p:spPr>
        <p:txBody>
          <a:bodyPr wrap="square" anchor="ctr" lIns="45720" rIns="45720">
            <a:spAutoFit/>
          </a:bodyPr>
          <a:lstStyle/>
          <a:p>
            <a:pPr algn="ctr">
              <a:spcAft>
                <a:spcPts val="600"/>
              </a:spcAft>
            </a:pPr>
            <a:r>
              <a:rPr sz="1600" b="1" i="0">
                <a:solidFill>
                  <a:srgbClr val="FFFFFF"/>
                </a:solidFill>
                <a:latin typeface="Calibri"/>
              </a:rPr>
              <a:t>1</a:t>
            </a:r>
          </a:p>
        </p:txBody>
      </p:sp>
      <p:sp>
        <p:nvSpPr>
          <p:cNvPr id="10" name="TextBox 9"/>
          <p:cNvSpPr txBox="1"/>
          <p:nvPr/>
        </p:nvSpPr>
        <p:spPr>
          <a:xfrm>
            <a:off x="7543800" y="1783080"/>
            <a:ext cx="4099255" cy="548640"/>
          </a:xfrm>
          <a:prstGeom prst="rect">
            <a:avLst/>
          </a:prstGeom>
          <a:noFill/>
        </p:spPr>
        <p:txBody>
          <a:bodyPr wrap="square" anchor="ctr" lIns="45720" rIns="45720">
            <a:spAutoFit/>
          </a:bodyPr>
          <a:lstStyle/>
          <a:p>
            <a:pPr algn="l">
              <a:spcAft>
                <a:spcPts val="600"/>
              </a:spcAft>
            </a:pPr>
            <a:r>
              <a:rPr sz="1600" b="0" i="0">
                <a:solidFill>
                  <a:srgbClr val="161B26"/>
                </a:solidFill>
                <a:latin typeface="Calibri"/>
              </a:rPr>
              <a:t>Telemetry preparation and validation</a:t>
            </a:r>
          </a:p>
        </p:txBody>
      </p:sp>
      <p:sp>
        <p:nvSpPr>
          <p:cNvPr id="11" name="Rounded Rectangle 10"/>
          <p:cNvSpPr/>
          <p:nvPr/>
        </p:nvSpPr>
        <p:spPr>
          <a:xfrm>
            <a:off x="6858000" y="2514600"/>
            <a:ext cx="502920" cy="502920"/>
          </a:xfrm>
          <a:prstGeom prst="roundRect">
            <a:avLst>
              <a:gd name="adj" fmla="val 6000"/>
            </a:avLst>
          </a:prstGeom>
          <a:solidFill>
            <a:srgbClr val="1E2A44"/>
          </a:solidFill>
          <a:ln w="12700">
            <a:solidFill>
              <a:srgbClr val="1E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2514600"/>
            <a:ext cx="502920" cy="502920"/>
          </a:xfrm>
          <a:prstGeom prst="rect">
            <a:avLst/>
          </a:prstGeom>
          <a:noFill/>
        </p:spPr>
        <p:txBody>
          <a:bodyPr wrap="square" anchor="ctr" lIns="45720" rIns="45720">
            <a:spAutoFit/>
          </a:bodyPr>
          <a:lstStyle/>
          <a:p>
            <a:pPr algn="ctr">
              <a:spcAft>
                <a:spcPts val="600"/>
              </a:spcAft>
            </a:pPr>
            <a:r>
              <a:rPr sz="1600" b="1" i="0">
                <a:solidFill>
                  <a:srgbClr val="FFFFFF"/>
                </a:solidFill>
                <a:latin typeface="Calibri"/>
              </a:rPr>
              <a:t>2</a:t>
            </a:r>
          </a:p>
        </p:txBody>
      </p:sp>
      <p:sp>
        <p:nvSpPr>
          <p:cNvPr id="13" name="TextBox 12"/>
          <p:cNvSpPr txBox="1"/>
          <p:nvPr/>
        </p:nvSpPr>
        <p:spPr>
          <a:xfrm>
            <a:off x="7543800" y="2514600"/>
            <a:ext cx="4099255" cy="548640"/>
          </a:xfrm>
          <a:prstGeom prst="rect">
            <a:avLst/>
          </a:prstGeom>
          <a:noFill/>
        </p:spPr>
        <p:txBody>
          <a:bodyPr wrap="square" anchor="ctr" lIns="45720" rIns="45720">
            <a:spAutoFit/>
          </a:bodyPr>
          <a:lstStyle/>
          <a:p>
            <a:pPr algn="l">
              <a:spcAft>
                <a:spcPts val="600"/>
              </a:spcAft>
            </a:pPr>
            <a:r>
              <a:rPr sz="1600" b="0" i="0">
                <a:solidFill>
                  <a:srgbClr val="161B26"/>
                </a:solidFill>
                <a:latin typeface="Calibri"/>
              </a:rPr>
              <a:t>Controlled historical and cross-component access</a:t>
            </a:r>
          </a:p>
        </p:txBody>
      </p:sp>
      <p:sp>
        <p:nvSpPr>
          <p:cNvPr id="14" name="Rounded Rectangle 13"/>
          <p:cNvSpPr/>
          <p:nvPr/>
        </p:nvSpPr>
        <p:spPr>
          <a:xfrm>
            <a:off x="6858000" y="3246120"/>
            <a:ext cx="502920" cy="502920"/>
          </a:xfrm>
          <a:prstGeom prst="roundRect">
            <a:avLst>
              <a:gd name="adj" fmla="val 6000"/>
            </a:avLst>
          </a:prstGeom>
          <a:solidFill>
            <a:srgbClr val="1E2A44"/>
          </a:solidFill>
          <a:ln w="12700">
            <a:solidFill>
              <a:srgbClr val="1E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0" y="3246120"/>
            <a:ext cx="502920" cy="502920"/>
          </a:xfrm>
          <a:prstGeom prst="rect">
            <a:avLst/>
          </a:prstGeom>
          <a:noFill/>
        </p:spPr>
        <p:txBody>
          <a:bodyPr wrap="square" anchor="ctr" lIns="45720" rIns="45720">
            <a:spAutoFit/>
          </a:bodyPr>
          <a:lstStyle/>
          <a:p>
            <a:pPr algn="ctr">
              <a:spcAft>
                <a:spcPts val="600"/>
              </a:spcAft>
            </a:pPr>
            <a:r>
              <a:rPr sz="1600" b="1" i="0">
                <a:solidFill>
                  <a:srgbClr val="FFFFFF"/>
                </a:solidFill>
                <a:latin typeface="Calibri"/>
              </a:rPr>
              <a:t>3</a:t>
            </a:r>
          </a:p>
        </p:txBody>
      </p:sp>
      <p:sp>
        <p:nvSpPr>
          <p:cNvPr id="16" name="TextBox 15"/>
          <p:cNvSpPr txBox="1"/>
          <p:nvPr/>
        </p:nvSpPr>
        <p:spPr>
          <a:xfrm>
            <a:off x="7543800" y="3246120"/>
            <a:ext cx="4099255" cy="548640"/>
          </a:xfrm>
          <a:prstGeom prst="rect">
            <a:avLst/>
          </a:prstGeom>
          <a:noFill/>
        </p:spPr>
        <p:txBody>
          <a:bodyPr wrap="square" anchor="ctr" lIns="45720" rIns="45720">
            <a:spAutoFit/>
          </a:bodyPr>
          <a:lstStyle/>
          <a:p>
            <a:pPr algn="l">
              <a:spcAft>
                <a:spcPts val="600"/>
              </a:spcAft>
            </a:pPr>
            <a:r>
              <a:rPr sz="1600" b="0" i="0">
                <a:solidFill>
                  <a:srgbClr val="161B26"/>
                </a:solidFill>
                <a:latin typeface="Calibri"/>
              </a:rPr>
              <a:t>Deterministic diagnostic tools</a:t>
            </a:r>
          </a:p>
        </p:txBody>
      </p:sp>
      <p:sp>
        <p:nvSpPr>
          <p:cNvPr id="17" name="Rounded Rectangle 16"/>
          <p:cNvSpPr/>
          <p:nvPr/>
        </p:nvSpPr>
        <p:spPr>
          <a:xfrm>
            <a:off x="6858000" y="3977640"/>
            <a:ext cx="502920" cy="502920"/>
          </a:xfrm>
          <a:prstGeom prst="roundRect">
            <a:avLst>
              <a:gd name="adj" fmla="val 6000"/>
            </a:avLst>
          </a:prstGeom>
          <a:solidFill>
            <a:srgbClr val="1E2A44"/>
          </a:solidFill>
          <a:ln w="12700">
            <a:solidFill>
              <a:srgbClr val="1E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0" y="3977640"/>
            <a:ext cx="502920" cy="502920"/>
          </a:xfrm>
          <a:prstGeom prst="rect">
            <a:avLst/>
          </a:prstGeom>
          <a:noFill/>
        </p:spPr>
        <p:txBody>
          <a:bodyPr wrap="square" anchor="ctr" lIns="45720" rIns="45720">
            <a:spAutoFit/>
          </a:bodyPr>
          <a:lstStyle/>
          <a:p>
            <a:pPr algn="ctr">
              <a:spcAft>
                <a:spcPts val="600"/>
              </a:spcAft>
            </a:pPr>
            <a:r>
              <a:rPr sz="1600" b="1" i="0">
                <a:solidFill>
                  <a:srgbClr val="FFFFFF"/>
                </a:solidFill>
                <a:latin typeface="Calibri"/>
              </a:rPr>
              <a:t>4</a:t>
            </a:r>
          </a:p>
        </p:txBody>
      </p:sp>
      <p:sp>
        <p:nvSpPr>
          <p:cNvPr id="19" name="TextBox 18"/>
          <p:cNvSpPr txBox="1"/>
          <p:nvPr/>
        </p:nvSpPr>
        <p:spPr>
          <a:xfrm>
            <a:off x="7543800" y="3977640"/>
            <a:ext cx="4099255" cy="548640"/>
          </a:xfrm>
          <a:prstGeom prst="rect">
            <a:avLst/>
          </a:prstGeom>
          <a:noFill/>
        </p:spPr>
        <p:txBody>
          <a:bodyPr wrap="square" anchor="ctr" lIns="45720" rIns="45720">
            <a:spAutoFit/>
          </a:bodyPr>
          <a:lstStyle/>
          <a:p>
            <a:pPr algn="l">
              <a:spcAft>
                <a:spcPts val="600"/>
              </a:spcAft>
            </a:pPr>
            <a:r>
              <a:rPr sz="1600" b="0" i="0">
                <a:solidFill>
                  <a:srgbClr val="161B26"/>
                </a:solidFill>
                <a:latin typeface="Calibri"/>
              </a:rPr>
              <a:t>Structured evidence receipts</a:t>
            </a:r>
          </a:p>
        </p:txBody>
      </p:sp>
      <p:sp>
        <p:nvSpPr>
          <p:cNvPr id="20" name="Rounded Rectangle 19"/>
          <p:cNvSpPr/>
          <p:nvPr/>
        </p:nvSpPr>
        <p:spPr>
          <a:xfrm>
            <a:off x="6858000" y="4709160"/>
            <a:ext cx="502920" cy="502920"/>
          </a:xfrm>
          <a:prstGeom prst="roundRect">
            <a:avLst>
              <a:gd name="adj" fmla="val 6000"/>
            </a:avLst>
          </a:prstGeom>
          <a:solidFill>
            <a:srgbClr val="1E2A44"/>
          </a:solidFill>
          <a:ln w="12700">
            <a:solidFill>
              <a:srgbClr val="1E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0" y="4709160"/>
            <a:ext cx="502920" cy="502920"/>
          </a:xfrm>
          <a:prstGeom prst="rect">
            <a:avLst/>
          </a:prstGeom>
          <a:noFill/>
        </p:spPr>
        <p:txBody>
          <a:bodyPr wrap="square" anchor="ctr" lIns="45720" rIns="45720">
            <a:spAutoFit/>
          </a:bodyPr>
          <a:lstStyle/>
          <a:p>
            <a:pPr algn="ctr">
              <a:spcAft>
                <a:spcPts val="600"/>
              </a:spcAft>
            </a:pPr>
            <a:r>
              <a:rPr sz="1600" b="1" i="0">
                <a:solidFill>
                  <a:srgbClr val="FFFFFF"/>
                </a:solidFill>
                <a:latin typeface="Calibri"/>
              </a:rPr>
              <a:t>5</a:t>
            </a:r>
          </a:p>
        </p:txBody>
      </p:sp>
      <p:sp>
        <p:nvSpPr>
          <p:cNvPr id="22" name="TextBox 21"/>
          <p:cNvSpPr txBox="1"/>
          <p:nvPr/>
        </p:nvSpPr>
        <p:spPr>
          <a:xfrm>
            <a:off x="7543800" y="4709160"/>
            <a:ext cx="4099255" cy="548640"/>
          </a:xfrm>
          <a:prstGeom prst="rect">
            <a:avLst/>
          </a:prstGeom>
          <a:noFill/>
        </p:spPr>
        <p:txBody>
          <a:bodyPr wrap="square" anchor="ctr" lIns="45720" rIns="45720">
            <a:spAutoFit/>
          </a:bodyPr>
          <a:lstStyle/>
          <a:p>
            <a:pPr algn="l">
              <a:spcAft>
                <a:spcPts val="600"/>
              </a:spcAft>
            </a:pPr>
            <a:r>
              <a:rPr sz="1600" b="0" i="0">
                <a:solidFill>
                  <a:srgbClr val="161B26"/>
                </a:solidFill>
                <a:latin typeface="Calibri"/>
              </a:rPr>
              <a:t>Conversational reporting</a:t>
            </a:r>
          </a:p>
        </p:txBody>
      </p:sp>
      <p:sp>
        <p:nvSpPr>
          <p:cNvPr id="23" name="Rounded Rectangle 22"/>
          <p:cNvSpPr/>
          <p:nvPr/>
        </p:nvSpPr>
        <p:spPr>
          <a:xfrm>
            <a:off x="6858000" y="5440680"/>
            <a:ext cx="502920" cy="502920"/>
          </a:xfrm>
          <a:prstGeom prst="roundRect">
            <a:avLst>
              <a:gd name="adj" fmla="val 6000"/>
            </a:avLst>
          </a:prstGeom>
          <a:solidFill>
            <a:srgbClr val="1E2A44"/>
          </a:solidFill>
          <a:ln w="12700">
            <a:solidFill>
              <a:srgbClr val="1E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5440680"/>
            <a:ext cx="502920" cy="502920"/>
          </a:xfrm>
          <a:prstGeom prst="rect">
            <a:avLst/>
          </a:prstGeom>
          <a:noFill/>
        </p:spPr>
        <p:txBody>
          <a:bodyPr wrap="square" anchor="ctr" lIns="45720" rIns="45720">
            <a:spAutoFit/>
          </a:bodyPr>
          <a:lstStyle/>
          <a:p>
            <a:pPr algn="ctr">
              <a:spcAft>
                <a:spcPts val="600"/>
              </a:spcAft>
            </a:pPr>
            <a:r>
              <a:rPr sz="1600" b="1" i="0">
                <a:solidFill>
                  <a:srgbClr val="FFFFFF"/>
                </a:solidFill>
                <a:latin typeface="Calibri"/>
              </a:rPr>
              <a:t>6</a:t>
            </a:r>
          </a:p>
        </p:txBody>
      </p:sp>
      <p:sp>
        <p:nvSpPr>
          <p:cNvPr id="25" name="TextBox 24"/>
          <p:cNvSpPr txBox="1"/>
          <p:nvPr/>
        </p:nvSpPr>
        <p:spPr>
          <a:xfrm>
            <a:off x="7543800" y="5440680"/>
            <a:ext cx="4099255" cy="548640"/>
          </a:xfrm>
          <a:prstGeom prst="rect">
            <a:avLst/>
          </a:prstGeom>
          <a:noFill/>
        </p:spPr>
        <p:txBody>
          <a:bodyPr wrap="square" anchor="ctr" lIns="45720" rIns="45720">
            <a:spAutoFit/>
          </a:bodyPr>
          <a:lstStyle/>
          <a:p>
            <a:pPr algn="l">
              <a:spcAft>
                <a:spcPts val="600"/>
              </a:spcAft>
            </a:pPr>
            <a:r>
              <a:rPr sz="1600" b="0" i="0">
                <a:solidFill>
                  <a:srgbClr val="161B26"/>
                </a:solidFill>
                <a:latin typeface="Calibri"/>
              </a:rPr>
              <a:t>Separate scoring against evaluation-only labels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3200400" cy="274320"/>
          </a:xfrm>
          <a:prstGeom prst="rect">
            <a:avLst/>
          </a:prstGeom>
          <a:noFill/>
        </p:spPr>
        <p:txBody>
          <a:bodyPr wrap="square" anchor="t" lIns="45720" rIns="45720">
            <a:spAutoFit/>
          </a:bodyPr>
          <a:lstStyle/>
          <a:p>
            <a:pPr algn="l">
              <a:spcAft>
                <a:spcPts val="600"/>
              </a:spcAft>
            </a:pPr>
            <a:r>
              <a:rPr sz="1100" b="1" i="0">
                <a:solidFill>
                  <a:srgbClr val="7E8AA3"/>
                </a:solidFill>
                <a:latin typeface="Calibri"/>
              </a:rPr>
              <a:t>HOW WE TESTED IT (THE DEMO EXPERIMENT)</a:t>
            </a:r>
          </a:p>
        </p:txBody>
      </p:sp>
      <p:sp>
        <p:nvSpPr>
          <p:cNvPr id="3" name="TextBox 2"/>
          <p:cNvSpPr txBox="1"/>
          <p:nvPr/>
        </p:nvSpPr>
        <p:spPr>
          <a:xfrm>
            <a:off x="548640" y="502920"/>
            <a:ext cx="11094415" cy="914400"/>
          </a:xfrm>
          <a:prstGeom prst="rect">
            <a:avLst/>
          </a:prstGeom>
          <a:noFill/>
        </p:spPr>
        <p:txBody>
          <a:bodyPr wrap="square" anchor="t" lIns="45720" rIns="45720">
            <a:spAutoFit/>
          </a:bodyPr>
          <a:lstStyle/>
          <a:p>
            <a:pPr algn="l">
              <a:spcAft>
                <a:spcPts val="600"/>
              </a:spcAft>
            </a:pPr>
            <a:r>
              <a:rPr sz="3000" b="1" i="0">
                <a:solidFill>
                  <a:srgbClr val="1E2A44"/>
                </a:solidFill>
                <a:latin typeface="Calibri"/>
              </a:rPr>
              <a:t>We tested what each kind of access makes possible</a:t>
            </a:r>
          </a:p>
        </p:txBody>
      </p:sp>
      <p:sp>
        <p:nvSpPr>
          <p:cNvPr id="4" name="TextBox 3"/>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i="0">
                <a:solidFill>
                  <a:srgbClr val="5B6272"/>
                </a:solidFill>
                <a:latin typeface="Calibri"/>
              </a:rPr>
              <a:t>Oyewale &amp; Meyer-Petgrave · NASEF 2026 · Petgrave.io</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spcAft>
                <a:spcPts val="600"/>
              </a:spcAft>
            </a:pPr>
            <a:r>
              <a:rPr sz="1000" b="0" i="0">
                <a:solidFill>
                  <a:srgbClr val="5B6272"/>
                </a:solidFill>
                <a:latin typeface="Calibri"/>
              </a:rPr>
              <a:t>8</a:t>
            </a:r>
          </a:p>
        </p:txBody>
      </p:sp>
      <p:sp>
        <p:nvSpPr>
          <p:cNvPr id="6" name="Rounded Rectangle 5"/>
          <p:cNvSpPr/>
          <p:nvPr/>
        </p:nvSpPr>
        <p:spPr>
          <a:xfrm>
            <a:off x="548640" y="1737360"/>
            <a:ext cx="6035040" cy="4480560"/>
          </a:xfrm>
          <a:prstGeom prst="roundRect">
            <a:avLst>
              <a:gd name="adj" fmla="val 6000"/>
            </a:avLst>
          </a:prstGeom>
          <a:solidFill>
            <a:srgbClr val="FFFFFF"/>
          </a:solidFill>
          <a:ln w="12700">
            <a:solidFill>
              <a:srgbClr val="4A5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74519"/>
            <a:ext cx="5669279" cy="4206240"/>
          </a:xfrm>
          <a:prstGeom prst="rect">
            <a:avLst/>
          </a:prstGeom>
          <a:noFill/>
        </p:spPr>
        <p:txBody>
          <a:bodyPr wrap="square" anchor="ctr" lIns="45720" rIns="45720">
            <a:spAutoFit/>
          </a:bodyPr>
          <a:lstStyle/>
          <a:p>
            <a:pPr algn="ctr">
              <a:spcAft>
                <a:spcPts val="600"/>
              </a:spcAft>
            </a:pPr>
            <a:r>
              <a:rPr sz="1400" b="0" i="0">
                <a:solidFill>
                  <a:srgbClr val="5B6272"/>
                </a:solidFill>
                <a:latin typeface="Calibri"/>
              </a:rPr>
              <a:t>[Fig3 · Information-Access Design]</a:t>
            </a:r>
          </a:p>
          <a:p>
            <a:pPr algn="ctr">
              <a:spcAft>
                <a:spcPts val="600"/>
              </a:spcAft>
            </a:pPr>
            <a:r>
              <a:rPr sz="1400" b="0" i="0">
                <a:solidFill>
                  <a:srgbClr val="5B6272"/>
                </a:solidFill>
                <a:latin typeface="Calibri"/>
              </a:rPr>
              <a:t>Drive › Figs</a:t>
            </a:r>
          </a:p>
        </p:txBody>
      </p:sp>
      <p:sp>
        <p:nvSpPr>
          <p:cNvPr id="8" name="Rounded Rectangle 7"/>
          <p:cNvSpPr/>
          <p:nvPr/>
        </p:nvSpPr>
        <p:spPr>
          <a:xfrm>
            <a:off x="6858000" y="1737360"/>
            <a:ext cx="2255367" cy="2011680"/>
          </a:xfrm>
          <a:prstGeom prst="roundRect">
            <a:avLst>
              <a:gd name="adj" fmla="val 6000"/>
            </a:avLst>
          </a:prstGeom>
          <a:solidFill>
            <a:srgbClr val="EEF0F3"/>
          </a:solidFill>
          <a:ln w="12700">
            <a:solidFill>
              <a:srgbClr val="AEB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0" y="1874519"/>
            <a:ext cx="1889607" cy="822960"/>
          </a:xfrm>
          <a:prstGeom prst="rect">
            <a:avLst/>
          </a:prstGeom>
          <a:noFill/>
        </p:spPr>
        <p:txBody>
          <a:bodyPr wrap="square" anchor="t" lIns="45720" rIns="45720">
            <a:spAutoFit/>
          </a:bodyPr>
          <a:lstStyle/>
          <a:p>
            <a:pPr algn="l">
              <a:spcAft>
                <a:spcPts val="600"/>
              </a:spcAft>
            </a:pPr>
            <a:r>
              <a:rPr sz="3600" b="1" i="0">
                <a:solidFill>
                  <a:srgbClr val="1E2A44"/>
                </a:solidFill>
                <a:latin typeface="Calibri"/>
              </a:rPr>
              <a:t>24</a:t>
            </a:r>
          </a:p>
        </p:txBody>
      </p:sp>
      <p:sp>
        <p:nvSpPr>
          <p:cNvPr id="10" name="TextBox 9"/>
          <p:cNvSpPr txBox="1"/>
          <p:nvPr/>
        </p:nvSpPr>
        <p:spPr>
          <a:xfrm>
            <a:off x="7040880" y="2743200"/>
            <a:ext cx="1889607" cy="914400"/>
          </a:xfrm>
          <a:prstGeom prst="rect">
            <a:avLst/>
          </a:prstGeom>
          <a:noFill/>
        </p:spPr>
        <p:txBody>
          <a:bodyPr wrap="square" anchor="t" lIns="45720" rIns="45720">
            <a:spAutoFit/>
          </a:bodyPr>
          <a:lstStyle/>
          <a:p>
            <a:pPr algn="l">
              <a:spcAft>
                <a:spcPts val="600"/>
              </a:spcAft>
            </a:pPr>
            <a:r>
              <a:rPr sz="1400" b="0" i="0">
                <a:solidFill>
                  <a:srgbClr val="5B6272"/>
                </a:solidFill>
                <a:latin typeface="Calibri"/>
              </a:rPr>
              <a:t>evaluation installations (8 development, kept apart)</a:t>
            </a:r>
          </a:p>
        </p:txBody>
      </p:sp>
      <p:sp>
        <p:nvSpPr>
          <p:cNvPr id="11" name="Rounded Rectangle 10"/>
          <p:cNvSpPr/>
          <p:nvPr/>
        </p:nvSpPr>
        <p:spPr>
          <a:xfrm>
            <a:off x="9387687" y="1737360"/>
            <a:ext cx="2255367" cy="2011680"/>
          </a:xfrm>
          <a:prstGeom prst="roundRect">
            <a:avLst>
              <a:gd name="adj" fmla="val 6000"/>
            </a:avLst>
          </a:prstGeom>
          <a:solidFill>
            <a:srgbClr val="EEF0F3"/>
          </a:solidFill>
          <a:ln w="12700">
            <a:solidFill>
              <a:srgbClr val="AEB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70567" y="1874519"/>
            <a:ext cx="1889607" cy="822960"/>
          </a:xfrm>
          <a:prstGeom prst="rect">
            <a:avLst/>
          </a:prstGeom>
          <a:noFill/>
        </p:spPr>
        <p:txBody>
          <a:bodyPr wrap="square" anchor="t" lIns="45720" rIns="45720">
            <a:spAutoFit/>
          </a:bodyPr>
          <a:lstStyle/>
          <a:p>
            <a:pPr algn="l">
              <a:spcAft>
                <a:spcPts val="600"/>
              </a:spcAft>
            </a:pPr>
            <a:r>
              <a:rPr sz="3600" b="1" i="0">
                <a:solidFill>
                  <a:srgbClr val="1E2A44"/>
                </a:solidFill>
                <a:latin typeface="Calibri"/>
              </a:rPr>
              <a:t>12</a:t>
            </a:r>
          </a:p>
        </p:txBody>
      </p:sp>
      <p:sp>
        <p:nvSpPr>
          <p:cNvPr id="13" name="TextBox 12"/>
          <p:cNvSpPr txBox="1"/>
          <p:nvPr/>
        </p:nvSpPr>
        <p:spPr>
          <a:xfrm>
            <a:off x="9570567" y="2743200"/>
            <a:ext cx="1889607" cy="914400"/>
          </a:xfrm>
          <a:prstGeom prst="rect">
            <a:avLst/>
          </a:prstGeom>
          <a:noFill/>
        </p:spPr>
        <p:txBody>
          <a:bodyPr wrap="square" anchor="t" lIns="45720" rIns="45720">
            <a:spAutoFit/>
          </a:bodyPr>
          <a:lstStyle/>
          <a:p>
            <a:pPr algn="l">
              <a:spcAft>
                <a:spcPts val="600"/>
              </a:spcAft>
            </a:pPr>
            <a:r>
              <a:rPr sz="1400" b="0" i="0">
                <a:solidFill>
                  <a:srgbClr val="5B6272"/>
                </a:solidFill>
                <a:latin typeface="Calibri"/>
              </a:rPr>
              <a:t>matched episodes each</a:t>
            </a:r>
          </a:p>
        </p:txBody>
      </p:sp>
      <p:sp>
        <p:nvSpPr>
          <p:cNvPr id="14" name="Rounded Rectangle 13"/>
          <p:cNvSpPr/>
          <p:nvPr/>
        </p:nvSpPr>
        <p:spPr>
          <a:xfrm>
            <a:off x="6858000" y="4023360"/>
            <a:ext cx="2255367" cy="2011680"/>
          </a:xfrm>
          <a:prstGeom prst="roundRect">
            <a:avLst>
              <a:gd name="adj" fmla="val 6000"/>
            </a:avLst>
          </a:prstGeom>
          <a:solidFill>
            <a:srgbClr val="EEF0F3"/>
          </a:solidFill>
          <a:ln w="12700">
            <a:solidFill>
              <a:srgbClr val="AEB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0" y="4160520"/>
            <a:ext cx="1889607" cy="822960"/>
          </a:xfrm>
          <a:prstGeom prst="rect">
            <a:avLst/>
          </a:prstGeom>
          <a:noFill/>
        </p:spPr>
        <p:txBody>
          <a:bodyPr wrap="square" anchor="t" lIns="45720" rIns="45720">
            <a:spAutoFit/>
          </a:bodyPr>
          <a:lstStyle/>
          <a:p>
            <a:pPr algn="l">
              <a:spcAft>
                <a:spcPts val="600"/>
              </a:spcAft>
            </a:pPr>
            <a:r>
              <a:rPr sz="3600" b="1" i="0">
                <a:solidFill>
                  <a:srgbClr val="1E2A44"/>
                </a:solidFill>
                <a:latin typeface="Calibri"/>
              </a:rPr>
              <a:t>3</a:t>
            </a:r>
          </a:p>
        </p:txBody>
      </p:sp>
      <p:sp>
        <p:nvSpPr>
          <p:cNvPr id="16" name="TextBox 15"/>
          <p:cNvSpPr txBox="1"/>
          <p:nvPr/>
        </p:nvSpPr>
        <p:spPr>
          <a:xfrm>
            <a:off x="7040880" y="5029200"/>
            <a:ext cx="1889607" cy="914400"/>
          </a:xfrm>
          <a:prstGeom prst="rect">
            <a:avLst/>
          </a:prstGeom>
          <a:noFill/>
        </p:spPr>
        <p:txBody>
          <a:bodyPr wrap="square" anchor="t" lIns="45720" rIns="45720">
            <a:spAutoFit/>
          </a:bodyPr>
          <a:lstStyle/>
          <a:p>
            <a:pPr algn="l">
              <a:spcAft>
                <a:spcPts val="600"/>
              </a:spcAft>
            </a:pPr>
            <a:r>
              <a:rPr sz="1400" b="0" i="0">
                <a:solidFill>
                  <a:srgbClr val="5B6272"/>
                </a:solidFill>
                <a:latin typeface="Calibri"/>
              </a:rPr>
              <a:t>observation-quality levels</a:t>
            </a:r>
          </a:p>
        </p:txBody>
      </p:sp>
      <p:sp>
        <p:nvSpPr>
          <p:cNvPr id="17" name="Rounded Rectangle 16"/>
          <p:cNvSpPr/>
          <p:nvPr/>
        </p:nvSpPr>
        <p:spPr>
          <a:xfrm>
            <a:off x="9387687" y="4023360"/>
            <a:ext cx="2255367" cy="2011680"/>
          </a:xfrm>
          <a:prstGeom prst="roundRect">
            <a:avLst>
              <a:gd name="adj" fmla="val 6000"/>
            </a:avLst>
          </a:prstGeom>
          <a:solidFill>
            <a:srgbClr val="EEF0F3"/>
          </a:solidFill>
          <a:ln w="12700">
            <a:solidFill>
              <a:srgbClr val="AEB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70567" y="4160520"/>
            <a:ext cx="1889607" cy="822960"/>
          </a:xfrm>
          <a:prstGeom prst="rect">
            <a:avLst/>
          </a:prstGeom>
          <a:noFill/>
        </p:spPr>
        <p:txBody>
          <a:bodyPr wrap="square" anchor="t" lIns="45720" rIns="45720">
            <a:spAutoFit/>
          </a:bodyPr>
          <a:lstStyle/>
          <a:p>
            <a:pPr algn="l">
              <a:spcAft>
                <a:spcPts val="600"/>
              </a:spcAft>
            </a:pPr>
            <a:r>
              <a:rPr sz="3600" b="1" i="0">
                <a:solidFill>
                  <a:srgbClr val="1E2A44"/>
                </a:solidFill>
                <a:latin typeface="Calibri"/>
              </a:rPr>
              <a:t>3,456</a:t>
            </a:r>
          </a:p>
        </p:txBody>
      </p:sp>
      <p:sp>
        <p:nvSpPr>
          <p:cNvPr id="19" name="TextBox 18"/>
          <p:cNvSpPr txBox="1"/>
          <p:nvPr/>
        </p:nvSpPr>
        <p:spPr>
          <a:xfrm>
            <a:off x="9570567" y="5029200"/>
            <a:ext cx="1889607" cy="914400"/>
          </a:xfrm>
          <a:prstGeom prst="rect">
            <a:avLst/>
          </a:prstGeom>
          <a:noFill/>
        </p:spPr>
        <p:txBody>
          <a:bodyPr wrap="square" anchor="t" lIns="45720" rIns="45720">
            <a:spAutoFit/>
          </a:bodyPr>
          <a:lstStyle/>
          <a:p>
            <a:pPr algn="l">
              <a:spcAft>
                <a:spcPts val="600"/>
              </a:spcAft>
            </a:pPr>
            <a:r>
              <a:rPr sz="1400" b="0" i="0">
                <a:solidFill>
                  <a:srgbClr val="5B6272"/>
                </a:solidFill>
                <a:latin typeface="Calibri"/>
              </a:rPr>
              <a:t>paired predictions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3200400" cy="274320"/>
          </a:xfrm>
          <a:prstGeom prst="rect">
            <a:avLst/>
          </a:prstGeom>
          <a:noFill/>
        </p:spPr>
        <p:txBody>
          <a:bodyPr wrap="square" anchor="t" lIns="45720" rIns="45720">
            <a:spAutoFit/>
          </a:bodyPr>
          <a:lstStyle/>
          <a:p>
            <a:pPr algn="l">
              <a:spcAft>
                <a:spcPts val="600"/>
              </a:spcAft>
            </a:pPr>
            <a:r>
              <a:rPr sz="1100" b="1" i="0">
                <a:solidFill>
                  <a:srgbClr val="7E8AA3"/>
                </a:solidFill>
                <a:latin typeface="Calibri"/>
              </a:rPr>
              <a:t>RESULTS (SYNTHETIC)</a:t>
            </a:r>
          </a:p>
        </p:txBody>
      </p:sp>
      <p:sp>
        <p:nvSpPr>
          <p:cNvPr id="3" name="TextBox 2"/>
          <p:cNvSpPr txBox="1"/>
          <p:nvPr/>
        </p:nvSpPr>
        <p:spPr>
          <a:xfrm>
            <a:off x="548640" y="502920"/>
            <a:ext cx="11094415" cy="914400"/>
          </a:xfrm>
          <a:prstGeom prst="rect">
            <a:avLst/>
          </a:prstGeom>
          <a:noFill/>
        </p:spPr>
        <p:txBody>
          <a:bodyPr wrap="square" anchor="t" lIns="45720" rIns="45720">
            <a:spAutoFit/>
          </a:bodyPr>
          <a:lstStyle/>
          <a:p>
            <a:pPr algn="l">
              <a:spcAft>
                <a:spcPts val="600"/>
              </a:spcAft>
            </a:pPr>
            <a:r>
              <a:rPr sz="3000" b="1" i="0">
                <a:solidFill>
                  <a:srgbClr val="1E2A44"/>
                </a:solidFill>
                <a:latin typeface="Calibri"/>
              </a:rPr>
              <a:t>History across components is what makes diagnosis work</a:t>
            </a:r>
          </a:p>
        </p:txBody>
      </p:sp>
      <p:sp>
        <p:nvSpPr>
          <p:cNvPr id="4" name="TextBox 3"/>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i="0">
                <a:solidFill>
                  <a:srgbClr val="5B6272"/>
                </a:solidFill>
                <a:latin typeface="Calibri"/>
              </a:rPr>
              <a:t>Oyewale &amp; Meyer-Petgrave · NASEF 2026 · Petgrave.io</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spcAft>
                <a:spcPts val="600"/>
              </a:spcAft>
            </a:pPr>
            <a:r>
              <a:rPr sz="1000" b="0" i="0">
                <a:solidFill>
                  <a:srgbClr val="5B6272"/>
                </a:solidFill>
                <a:latin typeface="Calibri"/>
              </a:rPr>
              <a:t>9</a:t>
            </a:r>
          </a:p>
        </p:txBody>
      </p:sp>
      <p:sp>
        <p:nvSpPr>
          <p:cNvPr id="6" name="TextBox 5"/>
          <p:cNvSpPr txBox="1"/>
          <p:nvPr/>
        </p:nvSpPr>
        <p:spPr>
          <a:xfrm>
            <a:off x="822959" y="1920240"/>
            <a:ext cx="3520440" cy="694944"/>
          </a:xfrm>
          <a:prstGeom prst="rect">
            <a:avLst/>
          </a:prstGeom>
          <a:noFill/>
        </p:spPr>
        <p:txBody>
          <a:bodyPr wrap="square" anchor="ctr" lIns="45720" rIns="45720">
            <a:spAutoFit/>
          </a:bodyPr>
          <a:lstStyle/>
          <a:p>
            <a:pPr algn="r">
              <a:spcAft>
                <a:spcPts val="600"/>
              </a:spcAft>
            </a:pPr>
            <a:r>
              <a:rPr sz="1600" b="1" i="0">
                <a:solidFill>
                  <a:srgbClr val="161B26"/>
                </a:solidFill>
                <a:latin typeface="Calibri"/>
              </a:rPr>
              <a:t>Full history + all components</a:t>
            </a:r>
          </a:p>
        </p:txBody>
      </p:sp>
      <p:sp>
        <p:nvSpPr>
          <p:cNvPr id="7" name="Rectangle 6"/>
          <p:cNvSpPr/>
          <p:nvPr/>
        </p:nvSpPr>
        <p:spPr>
          <a:xfrm>
            <a:off x="4480560" y="2011680"/>
            <a:ext cx="4693615" cy="521207"/>
          </a:xfrm>
          <a:prstGeom prst="rect">
            <a:avLst/>
          </a:prstGeom>
          <a:solidFill>
            <a:srgbClr val="1E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65615" y="1920240"/>
            <a:ext cx="2103120" cy="694944"/>
          </a:xfrm>
          <a:prstGeom prst="rect">
            <a:avLst/>
          </a:prstGeom>
          <a:noFill/>
        </p:spPr>
        <p:txBody>
          <a:bodyPr wrap="square" anchor="ctr" lIns="45720" rIns="45720">
            <a:spAutoFit/>
          </a:bodyPr>
          <a:lstStyle/>
          <a:p>
            <a:pPr algn="l">
              <a:spcAft>
                <a:spcPts val="600"/>
              </a:spcAft>
            </a:pPr>
            <a:r>
              <a:rPr sz="1600" b="1" i="0">
                <a:solidFill>
                  <a:srgbClr val="161B26"/>
                </a:solidFill>
                <a:latin typeface="Calibri"/>
              </a:rPr>
              <a:t>97.1%  (233 of 240)</a:t>
            </a:r>
          </a:p>
        </p:txBody>
      </p:sp>
      <p:sp>
        <p:nvSpPr>
          <p:cNvPr id="9" name="TextBox 8"/>
          <p:cNvSpPr txBox="1"/>
          <p:nvPr/>
        </p:nvSpPr>
        <p:spPr>
          <a:xfrm>
            <a:off x="822959" y="2788920"/>
            <a:ext cx="3520440" cy="694944"/>
          </a:xfrm>
          <a:prstGeom prst="rect">
            <a:avLst/>
          </a:prstGeom>
          <a:noFill/>
        </p:spPr>
        <p:txBody>
          <a:bodyPr wrap="square" anchor="ctr" lIns="45720" rIns="45720">
            <a:spAutoFit/>
          </a:bodyPr>
          <a:lstStyle/>
          <a:p>
            <a:pPr algn="r">
              <a:spcAft>
                <a:spcPts val="600"/>
              </a:spcAft>
            </a:pPr>
            <a:r>
              <a:rPr sz="1600" b="0" i="0">
                <a:solidFill>
                  <a:srgbClr val="5B6272"/>
                </a:solidFill>
                <a:latin typeface="Calibri"/>
              </a:rPr>
              <a:t>Full history + inverter only</a:t>
            </a:r>
          </a:p>
        </p:txBody>
      </p:sp>
      <p:sp>
        <p:nvSpPr>
          <p:cNvPr id="10" name="Rectangle 9"/>
          <p:cNvSpPr/>
          <p:nvPr/>
        </p:nvSpPr>
        <p:spPr>
          <a:xfrm>
            <a:off x="4480560" y="2880360"/>
            <a:ext cx="2600581" cy="521207"/>
          </a:xfrm>
          <a:prstGeom prst="rect">
            <a:avLst/>
          </a:prstGeom>
          <a:solidFill>
            <a:srgbClr val="AEB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72581" y="2788920"/>
            <a:ext cx="2103120" cy="694944"/>
          </a:xfrm>
          <a:prstGeom prst="rect">
            <a:avLst/>
          </a:prstGeom>
          <a:noFill/>
        </p:spPr>
        <p:txBody>
          <a:bodyPr wrap="square" anchor="ctr" lIns="45720" rIns="45720">
            <a:spAutoFit/>
          </a:bodyPr>
          <a:lstStyle/>
          <a:p>
            <a:pPr algn="l">
              <a:spcAft>
                <a:spcPts val="600"/>
              </a:spcAft>
            </a:pPr>
            <a:r>
              <a:rPr sz="1600" b="0" i="0">
                <a:solidFill>
                  <a:srgbClr val="5B6272"/>
                </a:solidFill>
                <a:latin typeface="Calibri"/>
              </a:rPr>
              <a:t>53.8%</a:t>
            </a:r>
          </a:p>
        </p:txBody>
      </p:sp>
      <p:sp>
        <p:nvSpPr>
          <p:cNvPr id="12" name="TextBox 11"/>
          <p:cNvSpPr txBox="1"/>
          <p:nvPr/>
        </p:nvSpPr>
        <p:spPr>
          <a:xfrm>
            <a:off x="822959" y="3657600"/>
            <a:ext cx="3520440" cy="694944"/>
          </a:xfrm>
          <a:prstGeom prst="rect">
            <a:avLst/>
          </a:prstGeom>
          <a:noFill/>
        </p:spPr>
        <p:txBody>
          <a:bodyPr wrap="square" anchor="ctr" lIns="45720" rIns="45720">
            <a:spAutoFit/>
          </a:bodyPr>
          <a:lstStyle/>
          <a:p>
            <a:pPr algn="r">
              <a:spcAft>
                <a:spcPts val="600"/>
              </a:spcAft>
            </a:pPr>
            <a:r>
              <a:rPr sz="1600" b="0" i="0">
                <a:solidFill>
                  <a:srgbClr val="5B6272"/>
                </a:solidFill>
                <a:latin typeface="Calibri"/>
              </a:rPr>
              <a:t>Last 24 h + all components</a:t>
            </a:r>
          </a:p>
        </p:txBody>
      </p:sp>
      <p:sp>
        <p:nvSpPr>
          <p:cNvPr id="13" name="Rectangle 12"/>
          <p:cNvSpPr/>
          <p:nvPr/>
        </p:nvSpPr>
        <p:spPr>
          <a:xfrm>
            <a:off x="4480560" y="3749039"/>
            <a:ext cx="1933518" cy="521207"/>
          </a:xfrm>
          <a:prstGeom prst="rect">
            <a:avLst/>
          </a:prstGeom>
          <a:solidFill>
            <a:srgbClr val="AEB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518" y="3657600"/>
            <a:ext cx="2103120" cy="694944"/>
          </a:xfrm>
          <a:prstGeom prst="rect">
            <a:avLst/>
          </a:prstGeom>
          <a:noFill/>
        </p:spPr>
        <p:txBody>
          <a:bodyPr wrap="square" anchor="ctr" lIns="45720" rIns="45720">
            <a:spAutoFit/>
          </a:bodyPr>
          <a:lstStyle/>
          <a:p>
            <a:pPr algn="l">
              <a:spcAft>
                <a:spcPts val="600"/>
              </a:spcAft>
            </a:pPr>
            <a:r>
              <a:rPr sz="1600" b="0" i="0">
                <a:solidFill>
                  <a:srgbClr val="5B6272"/>
                </a:solidFill>
                <a:latin typeface="Calibri"/>
              </a:rPr>
              <a:t>40.0%</a:t>
            </a:r>
          </a:p>
        </p:txBody>
      </p:sp>
      <p:sp>
        <p:nvSpPr>
          <p:cNvPr id="15" name="TextBox 14"/>
          <p:cNvSpPr txBox="1"/>
          <p:nvPr/>
        </p:nvSpPr>
        <p:spPr>
          <a:xfrm>
            <a:off x="822959" y="4526279"/>
            <a:ext cx="3520440" cy="694944"/>
          </a:xfrm>
          <a:prstGeom prst="rect">
            <a:avLst/>
          </a:prstGeom>
          <a:noFill/>
        </p:spPr>
        <p:txBody>
          <a:bodyPr wrap="square" anchor="ctr" lIns="45720" rIns="45720">
            <a:spAutoFit/>
          </a:bodyPr>
          <a:lstStyle/>
          <a:p>
            <a:pPr algn="r">
              <a:spcAft>
                <a:spcPts val="600"/>
              </a:spcAft>
            </a:pPr>
            <a:r>
              <a:rPr sz="1600" b="0" i="0">
                <a:solidFill>
                  <a:srgbClr val="5B6272"/>
                </a:solidFill>
                <a:latin typeface="Calibri"/>
              </a:rPr>
              <a:t>Last 24 h + inverter only</a:t>
            </a:r>
          </a:p>
        </p:txBody>
      </p:sp>
      <p:sp>
        <p:nvSpPr>
          <p:cNvPr id="16" name="Rectangle 15"/>
          <p:cNvSpPr/>
          <p:nvPr/>
        </p:nvSpPr>
        <p:spPr>
          <a:xfrm>
            <a:off x="4480560" y="4617719"/>
            <a:ext cx="966759" cy="521207"/>
          </a:xfrm>
          <a:prstGeom prst="rect">
            <a:avLst/>
          </a:prstGeom>
          <a:solidFill>
            <a:srgbClr val="AEB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38759" y="4526279"/>
            <a:ext cx="2103120" cy="694944"/>
          </a:xfrm>
          <a:prstGeom prst="rect">
            <a:avLst/>
          </a:prstGeom>
          <a:noFill/>
        </p:spPr>
        <p:txBody>
          <a:bodyPr wrap="square" anchor="ctr" lIns="45720" rIns="45720">
            <a:spAutoFit/>
          </a:bodyPr>
          <a:lstStyle/>
          <a:p>
            <a:pPr algn="l">
              <a:spcAft>
                <a:spcPts val="600"/>
              </a:spcAft>
            </a:pPr>
            <a:r>
              <a:rPr sz="1600" b="0" i="0">
                <a:solidFill>
                  <a:srgbClr val="5B6272"/>
                </a:solidFill>
                <a:latin typeface="Calibri"/>
              </a:rPr>
              <a:t>20.0%</a:t>
            </a:r>
          </a:p>
        </p:txBody>
      </p:sp>
      <p:sp>
        <p:nvSpPr>
          <p:cNvPr id="18" name="TextBox 17"/>
          <p:cNvSpPr txBox="1"/>
          <p:nvPr/>
        </p:nvSpPr>
        <p:spPr>
          <a:xfrm>
            <a:off x="822959" y="5532120"/>
            <a:ext cx="10545775" cy="731520"/>
          </a:xfrm>
          <a:prstGeom prst="rect">
            <a:avLst/>
          </a:prstGeom>
          <a:noFill/>
        </p:spPr>
        <p:txBody>
          <a:bodyPr wrap="square" anchor="t" lIns="45720" rIns="45720">
            <a:spAutoFit/>
          </a:bodyPr>
          <a:lstStyle/>
          <a:p>
            <a:pPr algn="l">
              <a:spcAft>
                <a:spcPts val="600"/>
              </a:spcAft>
            </a:pPr>
            <a:r>
              <a:rPr sz="1200" b="0" i="0">
                <a:solidFill>
                  <a:srgbClr val="5B6272"/>
                </a:solidFill>
                <a:latin typeface="Calibri"/>
              </a:rPr>
              <a:t>Correct diagnoses on identifiable clean cases, same diagnostic policy. Synthetic: 24 evaluation installations, 240 cases per condition; 95% installation-cluster interval for the top bar 95.4–98.8%.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3200400" cy="274320"/>
          </a:xfrm>
          <a:prstGeom prst="rect">
            <a:avLst/>
          </a:prstGeom>
          <a:noFill/>
        </p:spPr>
        <p:txBody>
          <a:bodyPr wrap="square" anchor="t" lIns="45720" rIns="45720">
            <a:spAutoFit/>
          </a:bodyPr>
          <a:lstStyle/>
          <a:p>
            <a:pPr algn="l">
              <a:spcAft>
                <a:spcPts val="600"/>
              </a:spcAft>
            </a:pPr>
            <a:r>
              <a:rPr sz="1100" b="1" i="0">
                <a:solidFill>
                  <a:srgbClr val="7E8AA3"/>
                </a:solidFill>
                <a:latin typeface="Calibri"/>
              </a:rPr>
              <a:t>RESULTS (SYNTHETIC)</a:t>
            </a:r>
          </a:p>
        </p:txBody>
      </p:sp>
      <p:sp>
        <p:nvSpPr>
          <p:cNvPr id="3" name="TextBox 2"/>
          <p:cNvSpPr txBox="1"/>
          <p:nvPr/>
        </p:nvSpPr>
        <p:spPr>
          <a:xfrm>
            <a:off x="548640" y="502920"/>
            <a:ext cx="11094415" cy="914400"/>
          </a:xfrm>
          <a:prstGeom prst="rect">
            <a:avLst/>
          </a:prstGeom>
          <a:noFill/>
        </p:spPr>
        <p:txBody>
          <a:bodyPr wrap="square" anchor="t" lIns="45720" rIns="45720">
            <a:spAutoFit/>
          </a:bodyPr>
          <a:lstStyle/>
          <a:p>
            <a:pPr algn="l">
              <a:spcAft>
                <a:spcPts val="600"/>
              </a:spcAft>
            </a:pPr>
            <a:r>
              <a:rPr sz="3000" b="1" i="0">
                <a:solidFill>
                  <a:srgbClr val="1E2A44"/>
                </a:solidFill>
                <a:latin typeface="Calibri"/>
              </a:rPr>
              <a:t>Under heavy corruption it degrades, and it says when it doesn't know</a:t>
            </a:r>
          </a:p>
        </p:txBody>
      </p:sp>
      <p:sp>
        <p:nvSpPr>
          <p:cNvPr id="4" name="TextBox 3"/>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i="0">
                <a:solidFill>
                  <a:srgbClr val="5B6272"/>
                </a:solidFill>
                <a:latin typeface="Calibri"/>
              </a:rPr>
              <a:t>Oyewale &amp; Meyer-Petgrave · NASEF 2026 · Petgrave.io</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spcAft>
                <a:spcPts val="600"/>
              </a:spcAft>
            </a:pPr>
            <a:r>
              <a:rPr sz="1000" b="0" i="0">
                <a:solidFill>
                  <a:srgbClr val="5B6272"/>
                </a:solidFill>
                <a:latin typeface="Calibri"/>
              </a:rPr>
              <a:t>10</a:t>
            </a:r>
          </a:p>
        </p:txBody>
      </p:sp>
      <p:sp>
        <p:nvSpPr>
          <p:cNvPr id="6" name="Rounded Rectangle 5"/>
          <p:cNvSpPr/>
          <p:nvPr/>
        </p:nvSpPr>
        <p:spPr>
          <a:xfrm>
            <a:off x="548640" y="1737360"/>
            <a:ext cx="6949440" cy="4480560"/>
          </a:xfrm>
          <a:prstGeom prst="roundRect">
            <a:avLst>
              <a:gd name="adj" fmla="val 6000"/>
            </a:avLst>
          </a:prstGeom>
          <a:solidFill>
            <a:srgbClr val="FFFFFF"/>
          </a:solidFill>
          <a:ln w="12700">
            <a:solidFill>
              <a:srgbClr val="4A5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74519"/>
            <a:ext cx="6583679" cy="4206240"/>
          </a:xfrm>
          <a:prstGeom prst="rect">
            <a:avLst/>
          </a:prstGeom>
          <a:noFill/>
        </p:spPr>
        <p:txBody>
          <a:bodyPr wrap="square" anchor="ctr" lIns="45720" rIns="45720">
            <a:spAutoFit/>
          </a:bodyPr>
          <a:lstStyle/>
          <a:p>
            <a:pPr algn="ctr">
              <a:spcAft>
                <a:spcPts val="600"/>
              </a:spcAft>
            </a:pPr>
            <a:r>
              <a:rPr sz="1400" b="0" i="0">
                <a:solidFill>
                  <a:srgbClr val="5B6272"/>
                </a:solidFill>
                <a:latin typeface="Calibri"/>
              </a:rPr>
              <a:t>[Fig5 · Diagnostic Robustness Under Corruption]</a:t>
            </a:r>
          </a:p>
          <a:p>
            <a:pPr algn="ctr">
              <a:spcAft>
                <a:spcPts val="600"/>
              </a:spcAft>
            </a:pPr>
            <a:r>
              <a:rPr sz="1400" b="0" i="0">
                <a:solidFill>
                  <a:srgbClr val="5B6272"/>
                </a:solidFill>
                <a:latin typeface="Calibri"/>
              </a:rPr>
              <a:t>Drive › Figs</a:t>
            </a:r>
          </a:p>
        </p:txBody>
      </p:sp>
      <p:sp>
        <p:nvSpPr>
          <p:cNvPr id="8" name="Rounded Rectangle 7"/>
          <p:cNvSpPr/>
          <p:nvPr/>
        </p:nvSpPr>
        <p:spPr>
          <a:xfrm>
            <a:off x="7863840" y="1737360"/>
            <a:ext cx="3779215" cy="2103120"/>
          </a:xfrm>
          <a:prstGeom prst="roundRect">
            <a:avLst>
              <a:gd name="adj" fmla="val 6000"/>
            </a:avLst>
          </a:prstGeom>
          <a:solidFill>
            <a:srgbClr val="1E2A44"/>
          </a:solidFill>
          <a:ln w="12700">
            <a:solidFill>
              <a:srgbClr val="1E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1965960"/>
            <a:ext cx="3322015" cy="914400"/>
          </a:xfrm>
          <a:prstGeom prst="rect">
            <a:avLst/>
          </a:prstGeom>
          <a:noFill/>
        </p:spPr>
        <p:txBody>
          <a:bodyPr wrap="square" anchor="t" lIns="45720" rIns="45720">
            <a:spAutoFit/>
          </a:bodyPr>
          <a:lstStyle/>
          <a:p>
            <a:pPr algn="l">
              <a:spcAft>
                <a:spcPts val="600"/>
              </a:spcAft>
            </a:pPr>
            <a:r>
              <a:rPr sz="4000" b="1" i="0">
                <a:solidFill>
                  <a:srgbClr val="FFFFFF"/>
                </a:solidFill>
                <a:latin typeface="Calibri"/>
              </a:rPr>
              <a:t>90.0%</a:t>
            </a:r>
          </a:p>
        </p:txBody>
      </p:sp>
      <p:sp>
        <p:nvSpPr>
          <p:cNvPr id="10" name="TextBox 9"/>
          <p:cNvSpPr txBox="1"/>
          <p:nvPr/>
        </p:nvSpPr>
        <p:spPr>
          <a:xfrm>
            <a:off x="8092440" y="2926080"/>
            <a:ext cx="3322015" cy="777239"/>
          </a:xfrm>
          <a:prstGeom prst="rect">
            <a:avLst/>
          </a:prstGeom>
          <a:noFill/>
        </p:spPr>
        <p:txBody>
          <a:bodyPr wrap="square" anchor="t" lIns="45720" rIns="45720">
            <a:spAutoFit/>
          </a:bodyPr>
          <a:lstStyle/>
          <a:p>
            <a:pPr algn="l">
              <a:spcAft>
                <a:spcPts val="600"/>
              </a:spcAft>
            </a:pPr>
            <a:r>
              <a:rPr sz="1500" b="0" i="0">
                <a:solidFill>
                  <a:srgbClr val="D5DAE3"/>
                </a:solidFill>
                <a:latin typeface="Calibri"/>
              </a:rPr>
              <a:t>full access under severe corruption</a:t>
            </a:r>
          </a:p>
        </p:txBody>
      </p:sp>
      <p:sp>
        <p:nvSpPr>
          <p:cNvPr id="11" name="Rounded Rectangle 10"/>
          <p:cNvSpPr/>
          <p:nvPr/>
        </p:nvSpPr>
        <p:spPr>
          <a:xfrm>
            <a:off x="7863840" y="4114800"/>
            <a:ext cx="3779215" cy="2103120"/>
          </a:xfrm>
          <a:prstGeom prst="roundRect">
            <a:avLst>
              <a:gd name="adj" fmla="val 6000"/>
            </a:avLst>
          </a:prstGeom>
          <a:solidFill>
            <a:srgbClr val="EEF0F3"/>
          </a:solidFill>
          <a:ln w="12700">
            <a:solidFill>
              <a:srgbClr val="AEB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40" y="4343400"/>
            <a:ext cx="3322015" cy="914400"/>
          </a:xfrm>
          <a:prstGeom prst="rect">
            <a:avLst/>
          </a:prstGeom>
          <a:noFill/>
        </p:spPr>
        <p:txBody>
          <a:bodyPr wrap="square" anchor="t" lIns="45720" rIns="45720">
            <a:spAutoFit/>
          </a:bodyPr>
          <a:lstStyle/>
          <a:p>
            <a:pPr algn="l">
              <a:spcAft>
                <a:spcPts val="600"/>
              </a:spcAft>
            </a:pPr>
            <a:r>
              <a:rPr sz="4000" b="1" i="0">
                <a:solidFill>
                  <a:srgbClr val="1E2A44"/>
                </a:solidFill>
                <a:latin typeface="Calibri"/>
              </a:rPr>
              <a:t>Abstains</a:t>
            </a:r>
          </a:p>
        </p:txBody>
      </p:sp>
      <p:sp>
        <p:nvSpPr>
          <p:cNvPr id="13" name="TextBox 12"/>
          <p:cNvSpPr txBox="1"/>
          <p:nvPr/>
        </p:nvSpPr>
        <p:spPr>
          <a:xfrm>
            <a:off x="8092440" y="5303520"/>
            <a:ext cx="3322015" cy="777239"/>
          </a:xfrm>
          <a:prstGeom prst="rect">
            <a:avLst/>
          </a:prstGeom>
          <a:noFill/>
        </p:spPr>
        <p:txBody>
          <a:bodyPr wrap="square" anchor="t" lIns="45720" rIns="45720">
            <a:spAutoFit/>
          </a:bodyPr>
          <a:lstStyle/>
          <a:p>
            <a:pPr algn="l">
              <a:spcAft>
                <a:spcPts val="600"/>
              </a:spcAft>
            </a:pPr>
            <a:r>
              <a:rPr sz="1500" b="0" i="0">
                <a:solidFill>
                  <a:srgbClr val="5B6272"/>
                </a:solidFill>
                <a:latin typeface="Calibri"/>
              </a:rPr>
              <a:t>when the evidence is insufficient, instead of guessing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3200400" cy="274320"/>
          </a:xfrm>
          <a:prstGeom prst="rect">
            <a:avLst/>
          </a:prstGeom>
          <a:noFill/>
        </p:spPr>
        <p:txBody>
          <a:bodyPr wrap="square" anchor="t" lIns="45720" rIns="45720">
            <a:spAutoFit/>
          </a:bodyPr>
          <a:lstStyle/>
          <a:p>
            <a:pPr algn="l">
              <a:spcAft>
                <a:spcPts val="600"/>
              </a:spcAft>
            </a:pPr>
            <a:r>
              <a:rPr sz="1100" b="1" i="0">
                <a:solidFill>
                  <a:srgbClr val="7E8AA3"/>
                </a:solidFill>
                <a:latin typeface="Calibri"/>
              </a:rPr>
              <a:t>RESULTS (LIVE PILOT)</a:t>
            </a:r>
          </a:p>
        </p:txBody>
      </p:sp>
      <p:sp>
        <p:nvSpPr>
          <p:cNvPr id="3" name="TextBox 2"/>
          <p:cNvSpPr txBox="1"/>
          <p:nvPr/>
        </p:nvSpPr>
        <p:spPr>
          <a:xfrm>
            <a:off x="548640" y="502920"/>
            <a:ext cx="11094415" cy="914400"/>
          </a:xfrm>
          <a:prstGeom prst="rect">
            <a:avLst/>
          </a:prstGeom>
          <a:noFill/>
        </p:spPr>
        <p:txBody>
          <a:bodyPr wrap="square" anchor="t" lIns="45720" rIns="45720">
            <a:spAutoFit/>
          </a:bodyPr>
          <a:lstStyle/>
          <a:p>
            <a:pPr algn="l">
              <a:spcAft>
                <a:spcPts val="600"/>
              </a:spcAft>
            </a:pPr>
            <a:r>
              <a:rPr sz="3000" b="1" i="0">
                <a:solidFill>
                  <a:srgbClr val="1E2A44"/>
                </a:solidFill>
                <a:latin typeface="Calibri"/>
              </a:rPr>
              <a:t>The language layer picked the right tool every time, and broke the output format every time</a:t>
            </a:r>
          </a:p>
        </p:txBody>
      </p:sp>
      <p:sp>
        <p:nvSpPr>
          <p:cNvPr id="4" name="TextBox 3"/>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i="0">
                <a:solidFill>
                  <a:srgbClr val="5B6272"/>
                </a:solidFill>
                <a:latin typeface="Calibri"/>
              </a:rPr>
              <a:t>Oyewale &amp; Meyer-Petgrave · NASEF 2026 · Petgrave.io</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spcAft>
                <a:spcPts val="600"/>
              </a:spcAft>
            </a:pPr>
            <a:r>
              <a:rPr sz="1000" b="0" i="0">
                <a:solidFill>
                  <a:srgbClr val="5B6272"/>
                </a:solidFill>
                <a:latin typeface="Calibri"/>
              </a:rPr>
              <a:t>11</a:t>
            </a:r>
          </a:p>
        </p:txBody>
      </p:sp>
      <p:sp>
        <p:nvSpPr>
          <p:cNvPr id="6" name="Rounded Rectangle 5"/>
          <p:cNvSpPr/>
          <p:nvPr/>
        </p:nvSpPr>
        <p:spPr>
          <a:xfrm>
            <a:off x="548640" y="1737360"/>
            <a:ext cx="6035040" cy="4480560"/>
          </a:xfrm>
          <a:prstGeom prst="roundRect">
            <a:avLst>
              <a:gd name="adj" fmla="val 6000"/>
            </a:avLst>
          </a:prstGeom>
          <a:solidFill>
            <a:srgbClr val="FFFFFF"/>
          </a:solidFill>
          <a:ln w="12700">
            <a:solidFill>
              <a:srgbClr val="4A5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74519"/>
            <a:ext cx="5669279" cy="4206240"/>
          </a:xfrm>
          <a:prstGeom prst="rect">
            <a:avLst/>
          </a:prstGeom>
          <a:noFill/>
        </p:spPr>
        <p:txBody>
          <a:bodyPr wrap="square" anchor="ctr" lIns="45720" rIns="45720">
            <a:spAutoFit/>
          </a:bodyPr>
          <a:lstStyle/>
          <a:p>
            <a:pPr algn="ctr">
              <a:spcAft>
                <a:spcPts val="600"/>
              </a:spcAft>
            </a:pPr>
            <a:r>
              <a:rPr sz="1400" b="0" i="0">
                <a:solidFill>
                  <a:srgbClr val="5B6272"/>
                </a:solidFill>
                <a:latin typeface="Calibri"/>
              </a:rPr>
              <a:t>[Fig6 · Conversational Evaluation Failure Decomposition]</a:t>
            </a:r>
          </a:p>
          <a:p>
            <a:pPr algn="ctr">
              <a:spcAft>
                <a:spcPts val="600"/>
              </a:spcAft>
            </a:pPr>
            <a:r>
              <a:rPr sz="1400" b="0" i="0">
                <a:solidFill>
                  <a:srgbClr val="5B6272"/>
                </a:solidFill>
                <a:latin typeface="Calibri"/>
              </a:rPr>
              <a:t>Drive › Figs</a:t>
            </a:r>
          </a:p>
        </p:txBody>
      </p:sp>
      <p:sp>
        <p:nvSpPr>
          <p:cNvPr id="8" name="Rounded Rectangle 7"/>
          <p:cNvSpPr/>
          <p:nvPr/>
        </p:nvSpPr>
        <p:spPr>
          <a:xfrm>
            <a:off x="6858000" y="1737360"/>
            <a:ext cx="4785055" cy="960120"/>
          </a:xfrm>
          <a:prstGeom prst="roundRect">
            <a:avLst>
              <a:gd name="adj" fmla="val 6000"/>
            </a:avLst>
          </a:prstGeom>
          <a:solidFill>
            <a:srgbClr val="1E2A44"/>
          </a:solidFill>
          <a:ln w="12700">
            <a:solidFill>
              <a:srgbClr val="1E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0" y="1828800"/>
            <a:ext cx="2011680" cy="777240"/>
          </a:xfrm>
          <a:prstGeom prst="rect">
            <a:avLst/>
          </a:prstGeom>
          <a:noFill/>
        </p:spPr>
        <p:txBody>
          <a:bodyPr wrap="square" anchor="ctr" lIns="45720" rIns="45720">
            <a:spAutoFit/>
          </a:bodyPr>
          <a:lstStyle/>
          <a:p>
            <a:pPr algn="l">
              <a:spcAft>
                <a:spcPts val="600"/>
              </a:spcAft>
            </a:pPr>
            <a:r>
              <a:rPr sz="2600" b="1" i="0">
                <a:solidFill>
                  <a:srgbClr val="FFFFFF"/>
                </a:solidFill>
                <a:latin typeface="Calibri"/>
              </a:rPr>
              <a:t>24 / 24</a:t>
            </a:r>
          </a:p>
        </p:txBody>
      </p:sp>
      <p:sp>
        <p:nvSpPr>
          <p:cNvPr id="10" name="TextBox 9"/>
          <p:cNvSpPr txBox="1"/>
          <p:nvPr/>
        </p:nvSpPr>
        <p:spPr>
          <a:xfrm>
            <a:off x="9052560" y="1828800"/>
            <a:ext cx="2407615" cy="777240"/>
          </a:xfrm>
          <a:prstGeom prst="rect">
            <a:avLst/>
          </a:prstGeom>
          <a:noFill/>
        </p:spPr>
        <p:txBody>
          <a:bodyPr wrap="square" anchor="ctr" lIns="45720" rIns="45720">
            <a:spAutoFit/>
          </a:bodyPr>
          <a:lstStyle/>
          <a:p>
            <a:pPr algn="l">
              <a:spcAft>
                <a:spcPts val="600"/>
              </a:spcAft>
            </a:pPr>
            <a:r>
              <a:rPr sz="1500" b="0" i="0">
                <a:solidFill>
                  <a:srgbClr val="D5DAE3"/>
                </a:solidFill>
                <a:latin typeface="Calibri"/>
              </a:rPr>
              <a:t>right tool selected</a:t>
            </a:r>
          </a:p>
        </p:txBody>
      </p:sp>
      <p:sp>
        <p:nvSpPr>
          <p:cNvPr id="11" name="Rounded Rectangle 10"/>
          <p:cNvSpPr/>
          <p:nvPr/>
        </p:nvSpPr>
        <p:spPr>
          <a:xfrm>
            <a:off x="6858000" y="2880360"/>
            <a:ext cx="4785055" cy="960120"/>
          </a:xfrm>
          <a:prstGeom prst="roundRect">
            <a:avLst>
              <a:gd name="adj" fmla="val 6000"/>
            </a:avLst>
          </a:prstGeom>
          <a:solidFill>
            <a:srgbClr val="FFFFFF"/>
          </a:solidFill>
          <a:ln w="12700">
            <a:solidFill>
              <a:srgbClr val="4A5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2971800"/>
            <a:ext cx="2011680" cy="777240"/>
          </a:xfrm>
          <a:prstGeom prst="rect">
            <a:avLst/>
          </a:prstGeom>
          <a:noFill/>
        </p:spPr>
        <p:txBody>
          <a:bodyPr wrap="square" anchor="ctr" lIns="45720" rIns="45720">
            <a:spAutoFit/>
          </a:bodyPr>
          <a:lstStyle/>
          <a:p>
            <a:pPr algn="l">
              <a:spcAft>
                <a:spcPts val="600"/>
              </a:spcAft>
            </a:pPr>
            <a:r>
              <a:rPr sz="2600" b="1" i="0">
                <a:solidFill>
                  <a:srgbClr val="1E2A44"/>
                </a:solidFill>
                <a:latin typeface="Calibri"/>
              </a:rPr>
              <a:t>0 / 24</a:t>
            </a:r>
          </a:p>
        </p:txBody>
      </p:sp>
      <p:sp>
        <p:nvSpPr>
          <p:cNvPr id="13" name="TextBox 12"/>
          <p:cNvSpPr txBox="1"/>
          <p:nvPr/>
        </p:nvSpPr>
        <p:spPr>
          <a:xfrm>
            <a:off x="9052560" y="2971800"/>
            <a:ext cx="2407615" cy="777240"/>
          </a:xfrm>
          <a:prstGeom prst="rect">
            <a:avLst/>
          </a:prstGeom>
          <a:noFill/>
        </p:spPr>
        <p:txBody>
          <a:bodyPr wrap="square" anchor="ctr" lIns="45720" rIns="45720">
            <a:spAutoFit/>
          </a:bodyPr>
          <a:lstStyle/>
          <a:p>
            <a:pPr algn="l">
              <a:spcAft>
                <a:spcPts val="600"/>
              </a:spcAft>
            </a:pPr>
            <a:r>
              <a:rPr sz="1500" b="0" i="0">
                <a:solidFill>
                  <a:srgbClr val="5B6272"/>
                </a:solidFill>
                <a:latin typeface="Calibri"/>
              </a:rPr>
              <a:t>strict output format</a:t>
            </a:r>
          </a:p>
        </p:txBody>
      </p:sp>
      <p:sp>
        <p:nvSpPr>
          <p:cNvPr id="14" name="Rounded Rectangle 13"/>
          <p:cNvSpPr/>
          <p:nvPr/>
        </p:nvSpPr>
        <p:spPr>
          <a:xfrm>
            <a:off x="6858000" y="4023360"/>
            <a:ext cx="4785055" cy="960120"/>
          </a:xfrm>
          <a:prstGeom prst="roundRect">
            <a:avLst>
              <a:gd name="adj" fmla="val 6000"/>
            </a:avLst>
          </a:prstGeom>
          <a:solidFill>
            <a:srgbClr val="EEF0F3"/>
          </a:solidFill>
          <a:ln w="12700">
            <a:solidFill>
              <a:srgbClr val="AEB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0" y="4114800"/>
            <a:ext cx="2011680" cy="777240"/>
          </a:xfrm>
          <a:prstGeom prst="rect">
            <a:avLst/>
          </a:prstGeom>
          <a:noFill/>
        </p:spPr>
        <p:txBody>
          <a:bodyPr wrap="square" anchor="ctr" lIns="45720" rIns="45720">
            <a:spAutoFit/>
          </a:bodyPr>
          <a:lstStyle/>
          <a:p>
            <a:pPr algn="l">
              <a:spcAft>
                <a:spcPts val="600"/>
              </a:spcAft>
            </a:pPr>
            <a:r>
              <a:rPr sz="2600" b="1" i="0">
                <a:solidFill>
                  <a:srgbClr val="1E2A44"/>
                </a:solidFill>
                <a:latin typeface="Calibri"/>
              </a:rPr>
              <a:t>24 / 24</a:t>
            </a:r>
          </a:p>
        </p:txBody>
      </p:sp>
      <p:sp>
        <p:nvSpPr>
          <p:cNvPr id="16" name="TextBox 15"/>
          <p:cNvSpPr txBox="1"/>
          <p:nvPr/>
        </p:nvSpPr>
        <p:spPr>
          <a:xfrm>
            <a:off x="9052560" y="4114800"/>
            <a:ext cx="2407615" cy="777240"/>
          </a:xfrm>
          <a:prstGeom prst="rect">
            <a:avLst/>
          </a:prstGeom>
          <a:noFill/>
        </p:spPr>
        <p:txBody>
          <a:bodyPr wrap="square" anchor="ctr" lIns="45720" rIns="45720">
            <a:spAutoFit/>
          </a:bodyPr>
          <a:lstStyle/>
          <a:p>
            <a:pPr algn="l">
              <a:spcAft>
                <a:spcPts val="600"/>
              </a:spcAft>
            </a:pPr>
            <a:r>
              <a:rPr sz="1500" b="0" i="0">
                <a:solidFill>
                  <a:srgbClr val="5B6272"/>
                </a:solidFill>
                <a:latin typeface="Calibri"/>
              </a:rPr>
              <a:t>labels, after removing fences</a:t>
            </a:r>
          </a:p>
        </p:txBody>
      </p:sp>
      <p:sp>
        <p:nvSpPr>
          <p:cNvPr id="17" name="Rounded Rectangle 16"/>
          <p:cNvSpPr/>
          <p:nvPr/>
        </p:nvSpPr>
        <p:spPr>
          <a:xfrm>
            <a:off x="6858000" y="5166360"/>
            <a:ext cx="4785055" cy="960120"/>
          </a:xfrm>
          <a:prstGeom prst="roundRect">
            <a:avLst>
              <a:gd name="adj" fmla="val 6000"/>
            </a:avLst>
          </a:prstGeom>
          <a:solidFill>
            <a:srgbClr val="EEF0F3"/>
          </a:solidFill>
          <a:ln w="12700">
            <a:solidFill>
              <a:srgbClr val="AEB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5257800"/>
            <a:ext cx="2011680" cy="777240"/>
          </a:xfrm>
          <a:prstGeom prst="rect">
            <a:avLst/>
          </a:prstGeom>
          <a:noFill/>
        </p:spPr>
        <p:txBody>
          <a:bodyPr wrap="square" anchor="ctr" lIns="45720" rIns="45720">
            <a:spAutoFit/>
          </a:bodyPr>
          <a:lstStyle/>
          <a:p>
            <a:pPr algn="l">
              <a:spcAft>
                <a:spcPts val="600"/>
              </a:spcAft>
            </a:pPr>
            <a:r>
              <a:rPr sz="2600" b="1" i="0">
                <a:solidFill>
                  <a:srgbClr val="1E2A44"/>
                </a:solidFill>
                <a:latin typeface="Calibri"/>
              </a:rPr>
              <a:t>15 / 24</a:t>
            </a:r>
          </a:p>
        </p:txBody>
      </p:sp>
      <p:sp>
        <p:nvSpPr>
          <p:cNvPr id="19" name="TextBox 18"/>
          <p:cNvSpPr txBox="1"/>
          <p:nvPr/>
        </p:nvSpPr>
        <p:spPr>
          <a:xfrm>
            <a:off x="9052560" y="5257800"/>
            <a:ext cx="2407615" cy="777240"/>
          </a:xfrm>
          <a:prstGeom prst="rect">
            <a:avLst/>
          </a:prstGeom>
          <a:noFill/>
        </p:spPr>
        <p:txBody>
          <a:bodyPr wrap="square" anchor="ctr" lIns="45720" rIns="45720">
            <a:spAutoFit/>
          </a:bodyPr>
          <a:lstStyle/>
          <a:p>
            <a:pPr algn="l">
              <a:spcAft>
                <a:spcPts val="600"/>
              </a:spcAft>
            </a:pPr>
            <a:r>
              <a:rPr sz="1500" b="0" i="0">
                <a:solidFill>
                  <a:srgbClr val="5B6272"/>
                </a:solidFill>
                <a:latin typeface="Calibri"/>
              </a:rPr>
              <a:t>citations valid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3200400" cy="274320"/>
          </a:xfrm>
          <a:prstGeom prst="rect">
            <a:avLst/>
          </a:prstGeom>
          <a:noFill/>
        </p:spPr>
        <p:txBody>
          <a:bodyPr wrap="square" anchor="t" lIns="45720" rIns="45720">
            <a:spAutoFit/>
          </a:bodyPr>
          <a:lstStyle/>
          <a:p>
            <a:pPr algn="l">
              <a:spcAft>
                <a:spcPts val="600"/>
              </a:spcAft>
            </a:pPr>
            <a:r>
              <a:rPr sz="1100" b="1" i="0">
                <a:solidFill>
                  <a:srgbClr val="7E8AA3"/>
                </a:solidFill>
                <a:latin typeface="Calibri"/>
              </a:rPr>
              <a:t>DEMO</a:t>
            </a:r>
          </a:p>
        </p:txBody>
      </p:sp>
      <p:sp>
        <p:nvSpPr>
          <p:cNvPr id="3" name="TextBox 2"/>
          <p:cNvSpPr txBox="1"/>
          <p:nvPr/>
        </p:nvSpPr>
        <p:spPr>
          <a:xfrm>
            <a:off x="548640" y="502920"/>
            <a:ext cx="11094415" cy="914400"/>
          </a:xfrm>
          <a:prstGeom prst="rect">
            <a:avLst/>
          </a:prstGeom>
          <a:noFill/>
        </p:spPr>
        <p:txBody>
          <a:bodyPr wrap="square" anchor="t" lIns="45720" rIns="45720">
            <a:spAutoFit/>
          </a:bodyPr>
          <a:lstStyle/>
          <a:p>
            <a:pPr algn="l">
              <a:spcAft>
                <a:spcPts val="600"/>
              </a:spcAft>
            </a:pPr>
            <a:r>
              <a:rPr sz="3000" b="1" i="0">
                <a:solidFill>
                  <a:srgbClr val="1E2A44"/>
                </a:solidFill>
                <a:latin typeface="Calibri"/>
              </a:rPr>
              <a:t>See it work: three questions</a:t>
            </a:r>
          </a:p>
        </p:txBody>
      </p:sp>
      <p:sp>
        <p:nvSpPr>
          <p:cNvPr id="4" name="TextBox 3"/>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i="0">
                <a:solidFill>
                  <a:srgbClr val="5B6272"/>
                </a:solidFill>
                <a:latin typeface="Calibri"/>
              </a:rPr>
              <a:t>Oyewale &amp; Meyer-Petgrave · NASEF 2026 · Petgrave.io</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spcAft>
                <a:spcPts val="600"/>
              </a:spcAft>
            </a:pPr>
            <a:r>
              <a:rPr sz="1000" b="0" i="0">
                <a:solidFill>
                  <a:srgbClr val="5B6272"/>
                </a:solidFill>
                <a:latin typeface="Calibri"/>
              </a:rPr>
              <a:t>12</a:t>
            </a:r>
          </a:p>
        </p:txBody>
      </p:sp>
      <p:sp>
        <p:nvSpPr>
          <p:cNvPr id="6" name="Rounded Rectangle 5"/>
          <p:cNvSpPr/>
          <p:nvPr/>
        </p:nvSpPr>
        <p:spPr>
          <a:xfrm>
            <a:off x="548640" y="1737360"/>
            <a:ext cx="7680960" cy="4480560"/>
          </a:xfrm>
          <a:prstGeom prst="roundRect">
            <a:avLst>
              <a:gd name="adj" fmla="val 6000"/>
            </a:avLst>
          </a:prstGeom>
          <a:solidFill>
            <a:srgbClr val="FFFFFF"/>
          </a:solidFill>
          <a:ln w="12700">
            <a:solidFill>
              <a:srgbClr val="4A5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74519"/>
            <a:ext cx="7315200" cy="4206240"/>
          </a:xfrm>
          <a:prstGeom prst="rect">
            <a:avLst/>
          </a:prstGeom>
          <a:noFill/>
        </p:spPr>
        <p:txBody>
          <a:bodyPr wrap="square" anchor="ctr" lIns="45720" rIns="45720">
            <a:spAutoFit/>
          </a:bodyPr>
          <a:lstStyle/>
          <a:p>
            <a:pPr algn="ctr">
              <a:spcAft>
                <a:spcPts val="600"/>
              </a:spcAft>
            </a:pPr>
            <a:r>
              <a:rPr sz="1400" b="0" i="0">
                <a:solidFill>
                  <a:srgbClr val="5B6272"/>
                </a:solidFill>
                <a:latin typeface="Calibri"/>
              </a:rPr>
              <a:t>[Live dashboard or video]</a:t>
            </a:r>
          </a:p>
          <a:p>
            <a:pPr algn="ctr">
              <a:spcAft>
                <a:spcPts val="600"/>
              </a:spcAft>
            </a:pPr>
            <a:r>
              <a:rPr sz="1400" b="0" i="0">
                <a:solidFill>
                  <a:srgbClr val="5B6272"/>
                </a:solidFill>
                <a:latin typeface="Calibri"/>
              </a:rPr>
              <a:t>engr-daniel.github.io/intelligent-data-logger-demo/dashboard/</a:t>
            </a:r>
          </a:p>
        </p:txBody>
      </p:sp>
      <p:sp>
        <p:nvSpPr>
          <p:cNvPr id="8" name="Rounded Rectangle 7"/>
          <p:cNvSpPr/>
          <p:nvPr/>
        </p:nvSpPr>
        <p:spPr>
          <a:xfrm>
            <a:off x="8503920" y="1737360"/>
            <a:ext cx="3139135" cy="1325880"/>
          </a:xfrm>
          <a:prstGeom prst="roundRect">
            <a:avLst>
              <a:gd name="adj" fmla="val 6000"/>
            </a:avLst>
          </a:prstGeom>
          <a:solidFill>
            <a:srgbClr val="EEF0F3"/>
          </a:solidFill>
          <a:ln w="12700">
            <a:solidFill>
              <a:srgbClr val="AEB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0" y="1828800"/>
            <a:ext cx="2773375" cy="1143000"/>
          </a:xfrm>
          <a:prstGeom prst="rect">
            <a:avLst/>
          </a:prstGeom>
          <a:noFill/>
        </p:spPr>
        <p:txBody>
          <a:bodyPr wrap="square" anchor="ctr" lIns="45720" rIns="45720">
            <a:spAutoFit/>
          </a:bodyPr>
          <a:lstStyle/>
          <a:p>
            <a:pPr algn="l">
              <a:spcAft>
                <a:spcPts val="600"/>
              </a:spcAft>
            </a:pPr>
            <a:r>
              <a:rPr sz="1600" b="0" i="0">
                <a:solidFill>
                  <a:srgbClr val="1E2A44"/>
                </a:solidFill>
                <a:latin typeface="Calibri"/>
              </a:rPr>
              <a:t>Q1</a:t>
            </a:r>
          </a:p>
          <a:p>
            <a:pPr algn="l">
              <a:spcAft>
                <a:spcPts val="600"/>
              </a:spcAft>
            </a:pPr>
            <a:r>
              <a:rPr sz="1600" b="0" i="0">
                <a:solidFill>
                  <a:srgbClr val="1E2A44"/>
                </a:solidFill>
                <a:latin typeface="Calibri"/>
              </a:rPr>
              <a:t>Why did generation drop on 5 August?</a:t>
            </a:r>
          </a:p>
        </p:txBody>
      </p:sp>
      <p:sp>
        <p:nvSpPr>
          <p:cNvPr id="10" name="Rounded Rectangle 9"/>
          <p:cNvSpPr/>
          <p:nvPr/>
        </p:nvSpPr>
        <p:spPr>
          <a:xfrm>
            <a:off x="8503920" y="3291839"/>
            <a:ext cx="3139135" cy="1325880"/>
          </a:xfrm>
          <a:prstGeom prst="roundRect">
            <a:avLst>
              <a:gd name="adj" fmla="val 6000"/>
            </a:avLst>
          </a:prstGeom>
          <a:solidFill>
            <a:srgbClr val="EEF0F3"/>
          </a:solidFill>
          <a:ln w="12700">
            <a:solidFill>
              <a:srgbClr val="AEB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3383279"/>
            <a:ext cx="2773375" cy="1143000"/>
          </a:xfrm>
          <a:prstGeom prst="rect">
            <a:avLst/>
          </a:prstGeom>
          <a:noFill/>
        </p:spPr>
        <p:txBody>
          <a:bodyPr wrap="square" anchor="ctr" lIns="45720" rIns="45720">
            <a:spAutoFit/>
          </a:bodyPr>
          <a:lstStyle/>
          <a:p>
            <a:pPr algn="l">
              <a:spcAft>
                <a:spcPts val="600"/>
              </a:spcAft>
            </a:pPr>
            <a:r>
              <a:rPr sz="1600" b="0" i="0">
                <a:solidFill>
                  <a:srgbClr val="1E2A44"/>
                </a:solidFill>
                <a:latin typeface="Calibri"/>
              </a:rPr>
              <a:t>Q2</a:t>
            </a:r>
          </a:p>
          <a:p>
            <a:pPr algn="l">
              <a:spcAft>
                <a:spcPts val="600"/>
              </a:spcAft>
            </a:pPr>
            <a:r>
              <a:rPr sz="1600" b="0" i="0">
                <a:solidFill>
                  <a:srgbClr val="1E2A44"/>
                </a:solidFill>
                <a:latin typeface="Calibri"/>
              </a:rPr>
              <a:t>What's our ROI so far?</a:t>
            </a:r>
          </a:p>
        </p:txBody>
      </p:sp>
      <p:sp>
        <p:nvSpPr>
          <p:cNvPr id="12" name="Rounded Rectangle 11"/>
          <p:cNvSpPr/>
          <p:nvPr/>
        </p:nvSpPr>
        <p:spPr>
          <a:xfrm>
            <a:off x="8503920" y="4846320"/>
            <a:ext cx="3139135" cy="1325880"/>
          </a:xfrm>
          <a:prstGeom prst="roundRect">
            <a:avLst>
              <a:gd name="adj" fmla="val 6000"/>
            </a:avLst>
          </a:prstGeom>
          <a:solidFill>
            <a:srgbClr val="EEF0F3"/>
          </a:solidFill>
          <a:ln w="12700">
            <a:solidFill>
              <a:srgbClr val="AEB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4937759"/>
            <a:ext cx="2773375" cy="1143000"/>
          </a:xfrm>
          <a:prstGeom prst="rect">
            <a:avLst/>
          </a:prstGeom>
          <a:noFill/>
        </p:spPr>
        <p:txBody>
          <a:bodyPr wrap="square" anchor="ctr" lIns="45720" rIns="45720">
            <a:spAutoFit/>
          </a:bodyPr>
          <a:lstStyle/>
          <a:p>
            <a:pPr algn="l">
              <a:spcAft>
                <a:spcPts val="600"/>
              </a:spcAft>
            </a:pPr>
            <a:r>
              <a:rPr sz="1600" b="0" i="0">
                <a:solidFill>
                  <a:srgbClr val="1E2A44"/>
                </a:solidFill>
                <a:latin typeface="Calibri"/>
              </a:rPr>
              <a:t>Q3</a:t>
            </a:r>
          </a:p>
          <a:p>
            <a:pPr algn="l">
              <a:spcAft>
                <a:spcPts val="600"/>
              </a:spcAft>
            </a:pPr>
            <a:r>
              <a:rPr sz="1600" b="0" i="0">
                <a:solidFill>
                  <a:srgbClr val="1E2A44"/>
                </a:solidFill>
                <a:latin typeface="Calibri"/>
              </a:rPr>
              <a:t>What happened during the data gap?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3200400" cy="274320"/>
          </a:xfrm>
          <a:prstGeom prst="rect">
            <a:avLst/>
          </a:prstGeom>
          <a:noFill/>
        </p:spPr>
        <p:txBody>
          <a:bodyPr wrap="square" anchor="t" lIns="45720" rIns="45720">
            <a:spAutoFit/>
          </a:bodyPr>
          <a:lstStyle/>
          <a:p>
            <a:pPr algn="l">
              <a:spcAft>
                <a:spcPts val="600"/>
              </a:spcAft>
            </a:pPr>
            <a:r>
              <a:rPr sz="1100" b="1" i="0">
                <a:solidFill>
                  <a:srgbClr val="7E8AA3"/>
                </a:solidFill>
                <a:latin typeface="Calibri"/>
              </a:rPr>
              <a:t>LIMITS</a:t>
            </a:r>
          </a:p>
        </p:txBody>
      </p:sp>
      <p:sp>
        <p:nvSpPr>
          <p:cNvPr id="3" name="TextBox 2"/>
          <p:cNvSpPr txBox="1"/>
          <p:nvPr/>
        </p:nvSpPr>
        <p:spPr>
          <a:xfrm>
            <a:off x="548640" y="502920"/>
            <a:ext cx="11094415" cy="914400"/>
          </a:xfrm>
          <a:prstGeom prst="rect">
            <a:avLst/>
          </a:prstGeom>
          <a:noFill/>
        </p:spPr>
        <p:txBody>
          <a:bodyPr wrap="square" anchor="t" lIns="45720" rIns="45720">
            <a:spAutoFit/>
          </a:bodyPr>
          <a:lstStyle/>
          <a:p>
            <a:pPr algn="l">
              <a:spcAft>
                <a:spcPts val="600"/>
              </a:spcAft>
            </a:pPr>
            <a:r>
              <a:rPr sz="3000" b="1" i="0">
                <a:solidFill>
                  <a:srgbClr val="1E2A44"/>
                </a:solidFill>
                <a:latin typeface="Calibri"/>
              </a:rPr>
              <a:t>What this shows, and what it does not</a:t>
            </a:r>
          </a:p>
        </p:txBody>
      </p:sp>
      <p:sp>
        <p:nvSpPr>
          <p:cNvPr id="4" name="TextBox 3"/>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i="0">
                <a:solidFill>
                  <a:srgbClr val="5B6272"/>
                </a:solidFill>
                <a:latin typeface="Calibri"/>
              </a:rPr>
              <a:t>Oyewale &amp; Meyer-Petgrave · NASEF 2026 · Petgrave.io</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spcAft>
                <a:spcPts val="600"/>
              </a:spcAft>
            </a:pPr>
            <a:r>
              <a:rPr sz="1000" b="0" i="0">
                <a:solidFill>
                  <a:srgbClr val="5B6272"/>
                </a:solidFill>
                <a:latin typeface="Calibri"/>
              </a:rPr>
              <a:t>13</a:t>
            </a:r>
          </a:p>
        </p:txBody>
      </p:sp>
      <p:sp>
        <p:nvSpPr>
          <p:cNvPr id="6" name="Rounded Rectangle 5"/>
          <p:cNvSpPr/>
          <p:nvPr/>
        </p:nvSpPr>
        <p:spPr>
          <a:xfrm>
            <a:off x="548640" y="1737360"/>
            <a:ext cx="5364327" cy="4480560"/>
          </a:xfrm>
          <a:prstGeom prst="roundRect">
            <a:avLst>
              <a:gd name="adj" fmla="val 6000"/>
            </a:avLst>
          </a:prstGeom>
          <a:solidFill>
            <a:srgbClr val="1E2A44"/>
          </a:solidFill>
          <a:ln w="12700">
            <a:solidFill>
              <a:srgbClr val="1E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874519"/>
            <a:ext cx="4815687" cy="457200"/>
          </a:xfrm>
          <a:prstGeom prst="rect">
            <a:avLst/>
          </a:prstGeom>
          <a:noFill/>
        </p:spPr>
        <p:txBody>
          <a:bodyPr wrap="square" anchor="t" lIns="45720" rIns="45720">
            <a:spAutoFit/>
          </a:bodyPr>
          <a:lstStyle/>
          <a:p>
            <a:pPr algn="l">
              <a:spcAft>
                <a:spcPts val="600"/>
              </a:spcAft>
            </a:pPr>
            <a:r>
              <a:rPr sz="2200" b="1" i="0">
                <a:solidFill>
                  <a:srgbClr val="FFFFFF"/>
                </a:solidFill>
                <a:latin typeface="Calibri"/>
              </a:rPr>
              <a:t>Shows</a:t>
            </a:r>
          </a:p>
        </p:txBody>
      </p:sp>
      <p:sp>
        <p:nvSpPr>
          <p:cNvPr id="8" name="TextBox 7"/>
          <p:cNvSpPr txBox="1"/>
          <p:nvPr/>
        </p:nvSpPr>
        <p:spPr>
          <a:xfrm>
            <a:off x="822959" y="2468880"/>
            <a:ext cx="4815687" cy="3657600"/>
          </a:xfrm>
          <a:prstGeom prst="rect">
            <a:avLst/>
          </a:prstGeom>
          <a:noFill/>
        </p:spPr>
        <p:txBody>
          <a:bodyPr wrap="square" anchor="t" lIns="45720" rIns="45720">
            <a:spAutoFit/>
          </a:bodyPr>
          <a:lstStyle/>
          <a:p>
            <a:pPr algn="l">
              <a:spcAft>
                <a:spcPts val="600"/>
              </a:spcAft>
            </a:pPr>
            <a:r>
              <a:rPr sz="1700" b="0" i="0">
                <a:solidFill>
                  <a:srgbClr val="D5DAE3"/>
                </a:solidFill>
                <a:latin typeface="Calibri"/>
              </a:rPr>
              <a:t>A reproducible methodology</a:t>
            </a:r>
          </a:p>
          <a:p>
            <a:pPr algn="l">
              <a:spcAft>
                <a:spcPts val="600"/>
              </a:spcAft>
            </a:pPr>
            <a:r>
              <a:rPr sz="1700" b="0" i="0">
                <a:solidFill>
                  <a:srgbClr val="D5DAE3"/>
                </a:solidFill>
                <a:latin typeface="Calibri"/>
              </a:rPr>
              <a:t>A working reference implementation</a:t>
            </a:r>
          </a:p>
          <a:p>
            <a:pPr algn="l">
              <a:spcAft>
                <a:spcPts val="600"/>
              </a:spcAft>
            </a:pPr>
            <a:r>
              <a:rPr sz="1700" b="0" i="0">
                <a:solidFill>
                  <a:srgbClr val="D5DAE3"/>
                </a:solidFill>
                <a:latin typeface="Calibri"/>
              </a:rPr>
              <a:t>A controlled synthetic evaluation under a frozen protocol</a:t>
            </a:r>
          </a:p>
          <a:p>
            <a:pPr algn="l">
              <a:spcAft>
                <a:spcPts val="600"/>
              </a:spcAft>
            </a:pPr>
            <a:r>
              <a:rPr sz="1700" b="0" i="0">
                <a:solidFill>
                  <a:srgbClr val="D5DAE3"/>
                </a:solidFill>
                <a:latin typeface="Calibri"/>
              </a:rPr>
              <a:t>Where the language layer fails, measured</a:t>
            </a:r>
          </a:p>
        </p:txBody>
      </p:sp>
      <p:sp>
        <p:nvSpPr>
          <p:cNvPr id="9" name="Rounded Rectangle 8"/>
          <p:cNvSpPr/>
          <p:nvPr/>
        </p:nvSpPr>
        <p:spPr>
          <a:xfrm>
            <a:off x="6278727" y="1737360"/>
            <a:ext cx="5364327" cy="4480560"/>
          </a:xfrm>
          <a:prstGeom prst="roundRect">
            <a:avLst>
              <a:gd name="adj" fmla="val 6000"/>
            </a:avLst>
          </a:prstGeom>
          <a:solidFill>
            <a:srgbClr val="FFFFFF"/>
          </a:solidFill>
          <a:ln w="12700">
            <a:solidFill>
              <a:srgbClr val="4A5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3047" y="1874519"/>
            <a:ext cx="4815687" cy="457200"/>
          </a:xfrm>
          <a:prstGeom prst="rect">
            <a:avLst/>
          </a:prstGeom>
          <a:noFill/>
        </p:spPr>
        <p:txBody>
          <a:bodyPr wrap="square" anchor="t" lIns="45720" rIns="45720">
            <a:spAutoFit/>
          </a:bodyPr>
          <a:lstStyle/>
          <a:p>
            <a:pPr algn="l">
              <a:spcAft>
                <a:spcPts val="600"/>
              </a:spcAft>
            </a:pPr>
            <a:r>
              <a:rPr sz="2200" b="1" i="0">
                <a:solidFill>
                  <a:srgbClr val="4A5878"/>
                </a:solidFill>
                <a:latin typeface="Calibri"/>
              </a:rPr>
              <a:t>Does not show</a:t>
            </a:r>
          </a:p>
        </p:txBody>
      </p:sp>
      <p:sp>
        <p:nvSpPr>
          <p:cNvPr id="11" name="TextBox 10"/>
          <p:cNvSpPr txBox="1"/>
          <p:nvPr/>
        </p:nvSpPr>
        <p:spPr>
          <a:xfrm>
            <a:off x="6553047" y="2468880"/>
            <a:ext cx="4815687" cy="3657600"/>
          </a:xfrm>
          <a:prstGeom prst="rect">
            <a:avLst/>
          </a:prstGeom>
          <a:noFill/>
        </p:spPr>
        <p:txBody>
          <a:bodyPr wrap="square" anchor="t" lIns="45720" rIns="45720">
            <a:spAutoFit/>
          </a:bodyPr>
          <a:lstStyle/>
          <a:p>
            <a:pPr algn="l">
              <a:spcAft>
                <a:spcPts val="600"/>
              </a:spcAft>
            </a:pPr>
            <a:r>
              <a:rPr sz="1700" b="0" i="0">
                <a:solidFill>
                  <a:srgbClr val="5B6272"/>
                </a:solidFill>
                <a:latin typeface="Calibri"/>
              </a:rPr>
              <a:t>Field accuracy: no field data yet</a:t>
            </a:r>
          </a:p>
          <a:p>
            <a:pPr algn="l">
              <a:spcAft>
                <a:spcPts val="600"/>
              </a:spcAft>
            </a:pPr>
            <a:r>
              <a:rPr sz="1700" b="0" i="0">
                <a:solidFill>
                  <a:srgbClr val="5B6272"/>
                </a:solidFill>
                <a:latin typeface="Calibri"/>
              </a:rPr>
              <a:t>Generalisation beyond shared simulator–policy assumptions</a:t>
            </a:r>
          </a:p>
          <a:p>
            <a:pPr algn="l">
              <a:spcAft>
                <a:spcPts val="600"/>
              </a:spcAft>
            </a:pPr>
            <a:r>
              <a:rPr sz="1700" b="0" i="0">
                <a:solidFill>
                  <a:srgbClr val="5B6272"/>
                </a:solidFill>
                <a:latin typeface="Calibri"/>
              </a:rPr>
              <a:t>Live conversational reliability</a:t>
            </a:r>
          </a:p>
          <a:p>
            <a:pPr algn="l">
              <a:spcAft>
                <a:spcPts val="600"/>
              </a:spcAft>
            </a:pPr>
            <a:r>
              <a:rPr sz="1700" b="0" i="0">
                <a:solidFill>
                  <a:srgbClr val="5B6272"/>
                </a:solidFill>
                <a:latin typeface="Calibri"/>
              </a:rPr>
              <a:t>ROI and carbon beyond grid displacement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3200400" cy="274320"/>
          </a:xfrm>
          <a:prstGeom prst="rect">
            <a:avLst/>
          </a:prstGeom>
          <a:noFill/>
        </p:spPr>
        <p:txBody>
          <a:bodyPr wrap="square" anchor="t" lIns="45720" rIns="45720">
            <a:spAutoFit/>
          </a:bodyPr>
          <a:lstStyle/>
          <a:p>
            <a:pPr algn="l">
              <a:spcAft>
                <a:spcPts val="600"/>
              </a:spcAft>
            </a:pPr>
            <a:r>
              <a:rPr sz="1100" b="1" i="0">
                <a:solidFill>
                  <a:srgbClr val="7E8AA3"/>
                </a:solidFill>
                <a:latin typeface="Calibri"/>
              </a:rPr>
              <a:t>WHAT'S NEXT</a:t>
            </a:r>
          </a:p>
        </p:txBody>
      </p:sp>
      <p:sp>
        <p:nvSpPr>
          <p:cNvPr id="3" name="TextBox 2"/>
          <p:cNvSpPr txBox="1"/>
          <p:nvPr/>
        </p:nvSpPr>
        <p:spPr>
          <a:xfrm>
            <a:off x="548640" y="502920"/>
            <a:ext cx="11094415" cy="914400"/>
          </a:xfrm>
          <a:prstGeom prst="rect">
            <a:avLst/>
          </a:prstGeom>
          <a:noFill/>
        </p:spPr>
        <p:txBody>
          <a:bodyPr wrap="square" anchor="t" lIns="45720" rIns="45720">
            <a:spAutoFit/>
          </a:bodyPr>
          <a:lstStyle/>
          <a:p>
            <a:pPr algn="l">
              <a:spcAft>
                <a:spcPts val="600"/>
              </a:spcAft>
            </a:pPr>
            <a:r>
              <a:rPr sz="3000" b="1" i="0">
                <a:solidFill>
                  <a:srgbClr val="1E2A44"/>
                </a:solidFill>
                <a:latin typeface="Calibri"/>
              </a:rPr>
              <a:t>Next: three real sites, and installers who write down what they find</a:t>
            </a:r>
          </a:p>
        </p:txBody>
      </p:sp>
      <p:sp>
        <p:nvSpPr>
          <p:cNvPr id="4" name="TextBox 3"/>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i="0">
                <a:solidFill>
                  <a:srgbClr val="5B6272"/>
                </a:solidFill>
                <a:latin typeface="Calibri"/>
              </a:rPr>
              <a:t>Oyewale &amp; Meyer-Petgrave · NASEF 2026 · Petgrave.io</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spcAft>
                <a:spcPts val="600"/>
              </a:spcAft>
            </a:pPr>
            <a:r>
              <a:rPr sz="1000" b="0" i="0">
                <a:solidFill>
                  <a:srgbClr val="5B6272"/>
                </a:solidFill>
                <a:latin typeface="Calibri"/>
              </a:rPr>
              <a:t>14</a:t>
            </a:r>
          </a:p>
        </p:txBody>
      </p:sp>
      <p:sp>
        <p:nvSpPr>
          <p:cNvPr id="6" name="Rounded Rectangle 5"/>
          <p:cNvSpPr/>
          <p:nvPr/>
        </p:nvSpPr>
        <p:spPr>
          <a:xfrm>
            <a:off x="548640" y="1737360"/>
            <a:ext cx="6035040" cy="4480560"/>
          </a:xfrm>
          <a:prstGeom prst="roundRect">
            <a:avLst>
              <a:gd name="adj" fmla="val 6000"/>
            </a:avLst>
          </a:prstGeom>
          <a:solidFill>
            <a:srgbClr val="FFFFFF"/>
          </a:solidFill>
          <a:ln w="12700">
            <a:solidFill>
              <a:srgbClr val="4A5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74519"/>
            <a:ext cx="5669279" cy="4206240"/>
          </a:xfrm>
          <a:prstGeom prst="rect">
            <a:avLst/>
          </a:prstGeom>
          <a:noFill/>
        </p:spPr>
        <p:txBody>
          <a:bodyPr wrap="square" anchor="ctr" lIns="45720" rIns="45720">
            <a:spAutoFit/>
          </a:bodyPr>
          <a:lstStyle/>
          <a:p>
            <a:pPr algn="ctr">
              <a:spcAft>
                <a:spcPts val="600"/>
              </a:spcAft>
            </a:pPr>
            <a:r>
              <a:rPr sz="1400" b="0" i="0">
                <a:solidFill>
                  <a:srgbClr val="5B6272"/>
                </a:solidFill>
                <a:latin typeface="Calibri"/>
              </a:rPr>
              <a:t>[Fig7 · Field Data Acquisition and Evaluation Architecture]</a:t>
            </a:r>
          </a:p>
          <a:p>
            <a:pPr algn="ctr">
              <a:spcAft>
                <a:spcPts val="600"/>
              </a:spcAft>
            </a:pPr>
            <a:r>
              <a:rPr sz="1400" b="0" i="0">
                <a:solidFill>
                  <a:srgbClr val="5B6272"/>
                </a:solidFill>
                <a:latin typeface="Calibri"/>
              </a:rPr>
              <a:t>Drive › Figs</a:t>
            </a:r>
          </a:p>
        </p:txBody>
      </p:sp>
      <p:sp>
        <p:nvSpPr>
          <p:cNvPr id="8" name="Rounded Rectangle 7"/>
          <p:cNvSpPr/>
          <p:nvPr/>
        </p:nvSpPr>
        <p:spPr>
          <a:xfrm>
            <a:off x="6858000" y="1737360"/>
            <a:ext cx="4785055" cy="4480560"/>
          </a:xfrm>
          <a:prstGeom prst="roundRect">
            <a:avLst>
              <a:gd name="adj" fmla="val 6000"/>
            </a:avLst>
          </a:prstGeom>
          <a:solidFill>
            <a:srgbClr val="EEF0F3"/>
          </a:solidFill>
          <a:ln w="12700">
            <a:solidFill>
              <a:srgbClr val="AEB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86600" y="1874519"/>
            <a:ext cx="4327855" cy="457200"/>
          </a:xfrm>
          <a:prstGeom prst="rect">
            <a:avLst/>
          </a:prstGeom>
          <a:noFill/>
        </p:spPr>
        <p:txBody>
          <a:bodyPr wrap="square" anchor="t" lIns="45720" rIns="45720">
            <a:spAutoFit/>
          </a:bodyPr>
          <a:lstStyle/>
          <a:p>
            <a:pPr algn="l">
              <a:spcAft>
                <a:spcPts val="600"/>
              </a:spcAft>
            </a:pPr>
            <a:r>
              <a:rPr sz="2000" b="1" i="0">
                <a:solidFill>
                  <a:srgbClr val="1E2A44"/>
                </a:solidFill>
                <a:latin typeface="Calibri"/>
              </a:rPr>
              <a:t>We are looking for</a:t>
            </a:r>
          </a:p>
        </p:txBody>
      </p:sp>
      <p:sp>
        <p:nvSpPr>
          <p:cNvPr id="10" name="TextBox 9"/>
          <p:cNvSpPr txBox="1"/>
          <p:nvPr/>
        </p:nvSpPr>
        <p:spPr>
          <a:xfrm>
            <a:off x="7086600" y="2468880"/>
            <a:ext cx="4327855" cy="2743200"/>
          </a:xfrm>
          <a:prstGeom prst="rect">
            <a:avLst/>
          </a:prstGeom>
          <a:noFill/>
        </p:spPr>
        <p:txBody>
          <a:bodyPr wrap="square" anchor="t" lIns="45720" rIns="45720">
            <a:spAutoFit/>
          </a:bodyPr>
          <a:lstStyle/>
          <a:p>
            <a:pPr algn="l">
              <a:spcAft>
                <a:spcPts val="600"/>
              </a:spcAft>
            </a:pPr>
            <a:r>
              <a:rPr sz="1700" b="0" i="0">
                <a:solidFill>
                  <a:srgbClr val="161B26"/>
                </a:solidFill>
                <a:latin typeface="Calibri"/>
              </a:rPr>
              <a:t>Installers willing to log what they find on return visits</a:t>
            </a:r>
          </a:p>
          <a:p>
            <a:pPr algn="l">
              <a:spcAft>
                <a:spcPts val="600"/>
              </a:spcAft>
            </a:pPr>
            <a:r>
              <a:rPr sz="1700" b="0" i="0">
                <a:solidFill>
                  <a:srgbClr val="161B26"/>
                </a:solidFill>
                <a:latin typeface="Calibri"/>
              </a:rPr>
              <a:t>Two or three sites to share weekly readings for a month</a:t>
            </a:r>
          </a:p>
          <a:p>
            <a:pPr algn="l">
              <a:spcAft>
                <a:spcPts val="600"/>
              </a:spcAft>
            </a:pPr>
            <a:r>
              <a:rPr sz="1700" b="0" i="0">
                <a:solidFill>
                  <a:srgbClr val="161B26"/>
                </a:solidFill>
                <a:latin typeface="Calibri"/>
              </a:rPr>
              <a:t>Partners interested in field validation</a:t>
            </a:r>
          </a:p>
        </p:txBody>
      </p:sp>
      <p:sp>
        <p:nvSpPr>
          <p:cNvPr id="11" name="TextBox 10"/>
          <p:cNvSpPr txBox="1"/>
          <p:nvPr/>
        </p:nvSpPr>
        <p:spPr>
          <a:xfrm>
            <a:off x="7086600" y="5394960"/>
            <a:ext cx="4327855" cy="548640"/>
          </a:xfrm>
          <a:prstGeom prst="rect">
            <a:avLst/>
          </a:prstGeom>
          <a:noFill/>
        </p:spPr>
        <p:txBody>
          <a:bodyPr wrap="square" anchor="t" lIns="45720" rIns="45720">
            <a:spAutoFit/>
          </a:bodyPr>
          <a:lstStyle/>
          <a:p>
            <a:pPr algn="l">
              <a:spcAft>
                <a:spcPts val="600"/>
              </a:spcAft>
            </a:pPr>
            <a:r>
              <a:rPr sz="1600" b="1" i="0">
                <a:solidFill>
                  <a:srgbClr val="1E2A44"/>
                </a:solidFill>
                <a:latin typeface="Calibri"/>
              </a:rPr>
              <a:t>daniel.oyewale@petgrave.io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A44"/>
        </a:solidFill>
        <a:effectLst/>
      </p:bgPr>
    </p:bg>
    <p:spTree>
      <p:nvGrpSpPr>
        <p:cNvPr id="1" name=""/>
        <p:cNvGrpSpPr/>
        <p:nvPr/>
      </p:nvGrpSpPr>
      <p:grpSpPr/>
      <p:sp>
        <p:nvSpPr>
          <p:cNvPr id="2" name="TextBox 1"/>
          <p:cNvSpPr txBox="1"/>
          <p:nvPr/>
        </p:nvSpPr>
        <p:spPr>
          <a:xfrm>
            <a:off x="548640" y="2103120"/>
            <a:ext cx="11094415" cy="1463040"/>
          </a:xfrm>
          <a:prstGeom prst="rect">
            <a:avLst/>
          </a:prstGeom>
          <a:noFill/>
        </p:spPr>
        <p:txBody>
          <a:bodyPr wrap="square" anchor="t" lIns="45720" rIns="45720">
            <a:spAutoFit/>
          </a:bodyPr>
          <a:lstStyle/>
          <a:p>
            <a:pPr algn="l">
              <a:spcAft>
                <a:spcPts val="600"/>
              </a:spcAft>
            </a:pPr>
            <a:r>
              <a:rPr sz="3600" b="1" i="0">
                <a:solidFill>
                  <a:srgbClr val="FFFFFF"/>
                </a:solidFill>
                <a:latin typeface="Calibri"/>
              </a:rPr>
              <a:t>No answer without evidence; no claim without a field check.</a:t>
            </a:r>
          </a:p>
        </p:txBody>
      </p:sp>
      <p:sp>
        <p:nvSpPr>
          <p:cNvPr id="3" name="TextBox 2"/>
          <p:cNvSpPr txBox="1"/>
          <p:nvPr/>
        </p:nvSpPr>
        <p:spPr>
          <a:xfrm>
            <a:off x="548640" y="3931920"/>
            <a:ext cx="8229600" cy="1280160"/>
          </a:xfrm>
          <a:prstGeom prst="rect">
            <a:avLst/>
          </a:prstGeom>
          <a:noFill/>
        </p:spPr>
        <p:txBody>
          <a:bodyPr wrap="square" anchor="t" lIns="45720" rIns="45720">
            <a:spAutoFit/>
          </a:bodyPr>
          <a:lstStyle/>
          <a:p>
            <a:pPr algn="l">
              <a:spcAft>
                <a:spcPts val="600"/>
              </a:spcAft>
            </a:pPr>
            <a:r>
              <a:rPr sz="1600" b="0" i="0">
                <a:solidFill>
                  <a:srgbClr val="D5DAE3"/>
                </a:solidFill>
                <a:latin typeface="Calibri"/>
              </a:rPr>
              <a:t>Demo · engr-daniel.github.io/intelligent-data-logger-demo/dashboard/</a:t>
            </a:r>
          </a:p>
          <a:p>
            <a:pPr algn="l">
              <a:spcAft>
                <a:spcPts val="600"/>
              </a:spcAft>
            </a:pPr>
            <a:r>
              <a:rPr sz="1600" b="0" i="0">
                <a:solidFill>
                  <a:srgbClr val="D5DAE3"/>
                </a:solidFill>
                <a:latin typeface="Calibri"/>
              </a:rPr>
              <a:t>Code · github.com/Engr-Daniel/intelligent-data-logger-demo</a:t>
            </a:r>
          </a:p>
          <a:p>
            <a:pPr algn="l">
              <a:spcAft>
                <a:spcPts val="600"/>
              </a:spcAft>
            </a:pPr>
            <a:r>
              <a:rPr sz="1600" b="0" i="0">
                <a:solidFill>
                  <a:srgbClr val="D5DAE3"/>
                </a:solidFill>
                <a:latin typeface="Calibri"/>
              </a:rPr>
              <a:t>daniel.oyewale@petgrave.io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3200400" cy="274320"/>
          </a:xfrm>
          <a:prstGeom prst="rect">
            <a:avLst/>
          </a:prstGeom>
          <a:noFill/>
        </p:spPr>
        <p:txBody>
          <a:bodyPr wrap="square" anchor="t" lIns="45720" rIns="45720">
            <a:spAutoFit/>
          </a:bodyPr>
          <a:lstStyle/>
          <a:p>
            <a:pPr algn="l">
              <a:spcAft>
                <a:spcPts val="600"/>
              </a:spcAft>
            </a:pPr>
            <a:r>
              <a:rPr sz="1100" b="1" i="0">
                <a:solidFill>
                  <a:srgbClr val="7E8AA3"/>
                </a:solidFill>
                <a:latin typeface="Calibri"/>
              </a:rPr>
              <a:t>BACKUP</a:t>
            </a:r>
          </a:p>
        </p:txBody>
      </p:sp>
      <p:sp>
        <p:nvSpPr>
          <p:cNvPr id="3" name="TextBox 2"/>
          <p:cNvSpPr txBox="1"/>
          <p:nvPr/>
        </p:nvSpPr>
        <p:spPr>
          <a:xfrm>
            <a:off x="548640" y="502920"/>
            <a:ext cx="11094415" cy="914400"/>
          </a:xfrm>
          <a:prstGeom prst="rect">
            <a:avLst/>
          </a:prstGeom>
          <a:noFill/>
        </p:spPr>
        <p:txBody>
          <a:bodyPr wrap="square" anchor="t" lIns="45720" rIns="45720">
            <a:spAutoFit/>
          </a:bodyPr>
          <a:lstStyle/>
          <a:p>
            <a:pPr algn="l">
              <a:spcAft>
                <a:spcPts val="600"/>
              </a:spcAft>
            </a:pPr>
            <a:r>
              <a:rPr sz="3000" b="1" i="0">
                <a:solidFill>
                  <a:srgbClr val="1E2A44"/>
                </a:solidFill>
                <a:latin typeface="Calibri"/>
              </a:rPr>
              <a:t>Backup: why synthetic data?</a:t>
            </a:r>
          </a:p>
        </p:txBody>
      </p:sp>
      <p:sp>
        <p:nvSpPr>
          <p:cNvPr id="4" name="TextBox 3"/>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i="0">
                <a:solidFill>
                  <a:srgbClr val="5B6272"/>
                </a:solidFill>
                <a:latin typeface="Calibri"/>
              </a:rPr>
              <a:t>Oyewale &amp; Meyer-Petgrave · NASEF 2026 · Petgrave.io</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spcAft>
                <a:spcPts val="600"/>
              </a:spcAft>
            </a:pPr>
            <a:r>
              <a:rPr sz="1000" b="0" i="0">
                <a:solidFill>
                  <a:srgbClr val="5B6272"/>
                </a:solidFill>
                <a:latin typeface="Calibri"/>
              </a:rPr>
              <a:t>16</a:t>
            </a:r>
          </a:p>
        </p:txBody>
      </p:sp>
      <p:sp>
        <p:nvSpPr>
          <p:cNvPr id="6" name="Rounded Rectangle 5"/>
          <p:cNvSpPr/>
          <p:nvPr/>
        </p:nvSpPr>
        <p:spPr>
          <a:xfrm>
            <a:off x="548640" y="1737360"/>
            <a:ext cx="11094415" cy="4480560"/>
          </a:xfrm>
          <a:prstGeom prst="roundRect">
            <a:avLst>
              <a:gd name="adj" fmla="val 6000"/>
            </a:avLst>
          </a:prstGeom>
          <a:solidFill>
            <a:srgbClr val="FFFFFF"/>
          </a:solidFill>
          <a:ln w="12700">
            <a:solidFill>
              <a:srgbClr val="4A5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74519"/>
            <a:ext cx="10728655" cy="4206240"/>
          </a:xfrm>
          <a:prstGeom prst="rect">
            <a:avLst/>
          </a:prstGeom>
          <a:noFill/>
        </p:spPr>
        <p:txBody>
          <a:bodyPr wrap="square" anchor="ctr" lIns="45720" rIns="45720">
            <a:spAutoFit/>
          </a:bodyPr>
          <a:lstStyle/>
          <a:p>
            <a:pPr algn="ctr">
              <a:spcAft>
                <a:spcPts val="600"/>
              </a:spcAft>
            </a:pPr>
            <a:r>
              <a:rPr sz="1400" b="0" i="0">
                <a:solidFill>
                  <a:srgbClr val="5B6272"/>
                </a:solidFill>
                <a:latin typeface="Calibri"/>
              </a:rPr>
              <a:t>[Disjoint seeds · known ground truth · frozen protocol]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3200400" cy="274320"/>
          </a:xfrm>
          <a:prstGeom prst="rect">
            <a:avLst/>
          </a:prstGeom>
          <a:noFill/>
        </p:spPr>
        <p:txBody>
          <a:bodyPr wrap="square" anchor="t" lIns="45720" rIns="45720">
            <a:spAutoFit/>
          </a:bodyPr>
          <a:lstStyle/>
          <a:p>
            <a:pPr algn="l">
              <a:spcAft>
                <a:spcPts val="600"/>
              </a:spcAft>
            </a:pPr>
            <a:r>
              <a:rPr sz="1100" b="1" i="0">
                <a:solidFill>
                  <a:srgbClr val="7E8AA3"/>
                </a:solidFill>
                <a:latin typeface="Calibri"/>
              </a:rPr>
              <a:t>BACKUP</a:t>
            </a:r>
          </a:p>
        </p:txBody>
      </p:sp>
      <p:sp>
        <p:nvSpPr>
          <p:cNvPr id="3" name="TextBox 2"/>
          <p:cNvSpPr txBox="1"/>
          <p:nvPr/>
        </p:nvSpPr>
        <p:spPr>
          <a:xfrm>
            <a:off x="548640" y="502920"/>
            <a:ext cx="11094415" cy="914400"/>
          </a:xfrm>
          <a:prstGeom prst="rect">
            <a:avLst/>
          </a:prstGeom>
          <a:noFill/>
        </p:spPr>
        <p:txBody>
          <a:bodyPr wrap="square" anchor="t" lIns="45720" rIns="45720">
            <a:spAutoFit/>
          </a:bodyPr>
          <a:lstStyle/>
          <a:p>
            <a:pPr algn="l">
              <a:spcAft>
                <a:spcPts val="600"/>
              </a:spcAft>
            </a:pPr>
            <a:r>
              <a:rPr sz="3000" b="1" i="0">
                <a:solidFill>
                  <a:srgbClr val="1E2A44"/>
                </a:solidFill>
                <a:latin typeface="Calibri"/>
              </a:rPr>
              <a:t>Backup: ROI and carbon depend on what solar replaced</a:t>
            </a:r>
          </a:p>
        </p:txBody>
      </p:sp>
      <p:sp>
        <p:nvSpPr>
          <p:cNvPr id="4" name="TextBox 3"/>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i="0">
                <a:solidFill>
                  <a:srgbClr val="5B6272"/>
                </a:solidFill>
                <a:latin typeface="Calibri"/>
              </a:rPr>
              <a:t>Oyewale &amp; Meyer-Petgrave · NASEF 2026 · Petgrave.io</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spcAft>
                <a:spcPts val="600"/>
              </a:spcAft>
            </a:pPr>
            <a:r>
              <a:rPr sz="1000" b="0" i="0">
                <a:solidFill>
                  <a:srgbClr val="5B6272"/>
                </a:solidFill>
                <a:latin typeface="Calibri"/>
              </a:rPr>
              <a:t>17</a:t>
            </a:r>
          </a:p>
        </p:txBody>
      </p:sp>
      <p:sp>
        <p:nvSpPr>
          <p:cNvPr id="6" name="TextBox 5"/>
          <p:cNvSpPr txBox="1"/>
          <p:nvPr/>
        </p:nvSpPr>
        <p:spPr>
          <a:xfrm>
            <a:off x="548640" y="1737360"/>
            <a:ext cx="5486400" cy="457200"/>
          </a:xfrm>
          <a:prstGeom prst="rect">
            <a:avLst/>
          </a:prstGeom>
          <a:noFill/>
        </p:spPr>
        <p:txBody>
          <a:bodyPr wrap="square" anchor="t" lIns="45720" rIns="45720">
            <a:spAutoFit/>
          </a:bodyPr>
          <a:lstStyle/>
          <a:p>
            <a:pPr algn="l">
              <a:spcAft>
                <a:spcPts val="600"/>
              </a:spcAft>
            </a:pPr>
            <a:r>
              <a:rPr sz="1600" b="1" i="0">
                <a:solidFill>
                  <a:srgbClr val="4A5878"/>
                </a:solidFill>
                <a:latin typeface="Calibri"/>
              </a:rPr>
              <a:t>Simple payback</a:t>
            </a:r>
          </a:p>
        </p:txBody>
      </p:sp>
      <p:sp>
        <p:nvSpPr>
          <p:cNvPr id="7" name="TextBox 6"/>
          <p:cNvSpPr txBox="1"/>
          <p:nvPr/>
        </p:nvSpPr>
        <p:spPr>
          <a:xfrm>
            <a:off x="548640" y="2286000"/>
            <a:ext cx="1874520" cy="658368"/>
          </a:xfrm>
          <a:prstGeom prst="rect">
            <a:avLst/>
          </a:prstGeom>
          <a:noFill/>
        </p:spPr>
        <p:txBody>
          <a:bodyPr wrap="square" anchor="ctr" lIns="45720" rIns="45720">
            <a:spAutoFit/>
          </a:bodyPr>
          <a:lstStyle/>
          <a:p>
            <a:pPr algn="r">
              <a:spcAft>
                <a:spcPts val="600"/>
              </a:spcAft>
            </a:pPr>
            <a:r>
              <a:rPr sz="1600" b="1" i="0">
                <a:solidFill>
                  <a:srgbClr val="161B26"/>
                </a:solidFill>
                <a:latin typeface="Calibri"/>
              </a:rPr>
              <a:t>Petrol generator</a:t>
            </a:r>
          </a:p>
        </p:txBody>
      </p:sp>
      <p:sp>
        <p:nvSpPr>
          <p:cNvPr id="8" name="Rectangle 7"/>
          <p:cNvSpPr/>
          <p:nvPr/>
        </p:nvSpPr>
        <p:spPr>
          <a:xfrm>
            <a:off x="2560320" y="2377440"/>
            <a:ext cx="225910" cy="493776"/>
          </a:xfrm>
          <a:prstGeom prst="rect">
            <a:avLst/>
          </a:prstGeom>
          <a:solidFill>
            <a:srgbClr val="1E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77670" y="2286000"/>
            <a:ext cx="2103120" cy="658368"/>
          </a:xfrm>
          <a:prstGeom prst="rect">
            <a:avLst/>
          </a:prstGeom>
          <a:noFill/>
        </p:spPr>
        <p:txBody>
          <a:bodyPr wrap="square" anchor="ctr" lIns="45720" rIns="45720">
            <a:spAutoFit/>
          </a:bodyPr>
          <a:lstStyle/>
          <a:p>
            <a:pPr algn="l">
              <a:spcAft>
                <a:spcPts val="600"/>
              </a:spcAft>
            </a:pPr>
            <a:r>
              <a:rPr sz="1600" b="1" i="0">
                <a:solidFill>
                  <a:srgbClr val="161B26"/>
                </a:solidFill>
                <a:latin typeface="Calibri"/>
              </a:rPr>
              <a:t>0.9 years</a:t>
            </a:r>
          </a:p>
        </p:txBody>
      </p:sp>
      <p:sp>
        <p:nvSpPr>
          <p:cNvPr id="10" name="TextBox 9"/>
          <p:cNvSpPr txBox="1"/>
          <p:nvPr/>
        </p:nvSpPr>
        <p:spPr>
          <a:xfrm>
            <a:off x="548640" y="3108960"/>
            <a:ext cx="1874520" cy="658368"/>
          </a:xfrm>
          <a:prstGeom prst="rect">
            <a:avLst/>
          </a:prstGeom>
          <a:noFill/>
        </p:spPr>
        <p:txBody>
          <a:bodyPr wrap="square" anchor="ctr" lIns="45720" rIns="45720">
            <a:spAutoFit/>
          </a:bodyPr>
          <a:lstStyle/>
          <a:p>
            <a:pPr algn="r">
              <a:spcAft>
                <a:spcPts val="600"/>
              </a:spcAft>
            </a:pPr>
            <a:r>
              <a:rPr sz="1600" b="0" i="0">
                <a:solidFill>
                  <a:srgbClr val="5B6272"/>
                </a:solidFill>
                <a:latin typeface="Calibri"/>
              </a:rPr>
              <a:t>Grid</a:t>
            </a:r>
          </a:p>
        </p:txBody>
      </p:sp>
      <p:sp>
        <p:nvSpPr>
          <p:cNvPr id="11" name="Rectangle 10"/>
          <p:cNvSpPr/>
          <p:nvPr/>
        </p:nvSpPr>
        <p:spPr>
          <a:xfrm>
            <a:off x="2560320" y="3200400"/>
            <a:ext cx="1280160" cy="493776"/>
          </a:xfrm>
          <a:prstGeom prst="rect">
            <a:avLst/>
          </a:prstGeom>
          <a:solidFill>
            <a:srgbClr val="AEB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0" y="3108960"/>
            <a:ext cx="2103120" cy="658368"/>
          </a:xfrm>
          <a:prstGeom prst="rect">
            <a:avLst/>
          </a:prstGeom>
          <a:noFill/>
        </p:spPr>
        <p:txBody>
          <a:bodyPr wrap="square" anchor="ctr" lIns="45720" rIns="45720">
            <a:spAutoFit/>
          </a:bodyPr>
          <a:lstStyle/>
          <a:p>
            <a:pPr algn="l">
              <a:spcAft>
                <a:spcPts val="600"/>
              </a:spcAft>
            </a:pPr>
            <a:r>
              <a:rPr sz="1600" b="0" i="0">
                <a:solidFill>
                  <a:srgbClr val="5B6272"/>
                </a:solidFill>
                <a:latin typeface="Calibri"/>
              </a:rPr>
              <a:t>5.1 years</a:t>
            </a:r>
          </a:p>
        </p:txBody>
      </p:sp>
      <p:sp>
        <p:nvSpPr>
          <p:cNvPr id="13" name="TextBox 12"/>
          <p:cNvSpPr txBox="1"/>
          <p:nvPr/>
        </p:nvSpPr>
        <p:spPr>
          <a:xfrm>
            <a:off x="6309359" y="1737360"/>
            <a:ext cx="5486400" cy="457200"/>
          </a:xfrm>
          <a:prstGeom prst="rect">
            <a:avLst/>
          </a:prstGeom>
          <a:noFill/>
        </p:spPr>
        <p:txBody>
          <a:bodyPr wrap="square" anchor="t" lIns="45720" rIns="45720">
            <a:spAutoFit/>
          </a:bodyPr>
          <a:lstStyle/>
          <a:p>
            <a:pPr algn="l">
              <a:spcAft>
                <a:spcPts val="600"/>
              </a:spcAft>
            </a:pPr>
            <a:r>
              <a:rPr sz="1600" b="1" i="0">
                <a:solidFill>
                  <a:srgbClr val="4A5878"/>
                </a:solidFill>
                <a:latin typeface="Calibri"/>
              </a:rPr>
              <a:t>CO₂ avoided in 120 days</a:t>
            </a:r>
          </a:p>
        </p:txBody>
      </p:sp>
      <p:sp>
        <p:nvSpPr>
          <p:cNvPr id="14" name="TextBox 13"/>
          <p:cNvSpPr txBox="1"/>
          <p:nvPr/>
        </p:nvSpPr>
        <p:spPr>
          <a:xfrm>
            <a:off x="6309359" y="2286000"/>
            <a:ext cx="1874520" cy="658368"/>
          </a:xfrm>
          <a:prstGeom prst="rect">
            <a:avLst/>
          </a:prstGeom>
          <a:noFill/>
        </p:spPr>
        <p:txBody>
          <a:bodyPr wrap="square" anchor="ctr" lIns="45720" rIns="45720">
            <a:spAutoFit/>
          </a:bodyPr>
          <a:lstStyle/>
          <a:p>
            <a:pPr algn="r">
              <a:spcAft>
                <a:spcPts val="600"/>
              </a:spcAft>
            </a:pPr>
            <a:r>
              <a:rPr sz="1600" b="1" i="0">
                <a:solidFill>
                  <a:srgbClr val="161B26"/>
                </a:solidFill>
                <a:latin typeface="Calibri"/>
              </a:rPr>
              <a:t>Petrol generator</a:t>
            </a:r>
          </a:p>
        </p:txBody>
      </p:sp>
      <p:sp>
        <p:nvSpPr>
          <p:cNvPr id="15" name="Rectangle 14"/>
          <p:cNvSpPr/>
          <p:nvPr/>
        </p:nvSpPr>
        <p:spPr>
          <a:xfrm>
            <a:off x="8321040" y="2377440"/>
            <a:ext cx="1097279" cy="493776"/>
          </a:xfrm>
          <a:prstGeom prst="rect">
            <a:avLst/>
          </a:prstGeom>
          <a:solidFill>
            <a:srgbClr val="1E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9759" y="2286000"/>
            <a:ext cx="2103120" cy="658368"/>
          </a:xfrm>
          <a:prstGeom prst="rect">
            <a:avLst/>
          </a:prstGeom>
          <a:noFill/>
        </p:spPr>
        <p:txBody>
          <a:bodyPr wrap="square" anchor="ctr" lIns="45720" rIns="45720">
            <a:spAutoFit/>
          </a:bodyPr>
          <a:lstStyle/>
          <a:p>
            <a:pPr algn="l">
              <a:spcAft>
                <a:spcPts val="600"/>
              </a:spcAft>
            </a:pPr>
            <a:r>
              <a:rPr sz="1600" b="1" i="0">
                <a:solidFill>
                  <a:srgbClr val="161B26"/>
                </a:solidFill>
                <a:latin typeface="Calibri"/>
              </a:rPr>
              <a:t>3,481 kg</a:t>
            </a:r>
          </a:p>
        </p:txBody>
      </p:sp>
      <p:sp>
        <p:nvSpPr>
          <p:cNvPr id="17" name="TextBox 16"/>
          <p:cNvSpPr txBox="1"/>
          <p:nvPr/>
        </p:nvSpPr>
        <p:spPr>
          <a:xfrm>
            <a:off x="6309359" y="3108960"/>
            <a:ext cx="1874520" cy="658368"/>
          </a:xfrm>
          <a:prstGeom prst="rect">
            <a:avLst/>
          </a:prstGeom>
          <a:noFill/>
        </p:spPr>
        <p:txBody>
          <a:bodyPr wrap="square" anchor="ctr" lIns="45720" rIns="45720">
            <a:spAutoFit/>
          </a:bodyPr>
          <a:lstStyle/>
          <a:p>
            <a:pPr algn="r">
              <a:spcAft>
                <a:spcPts val="600"/>
              </a:spcAft>
            </a:pPr>
            <a:r>
              <a:rPr sz="1600" b="0" i="0">
                <a:solidFill>
                  <a:srgbClr val="5B6272"/>
                </a:solidFill>
                <a:latin typeface="Calibri"/>
              </a:rPr>
              <a:t>Grid</a:t>
            </a:r>
          </a:p>
        </p:txBody>
      </p:sp>
      <p:sp>
        <p:nvSpPr>
          <p:cNvPr id="18" name="Rectangle 17"/>
          <p:cNvSpPr/>
          <p:nvPr/>
        </p:nvSpPr>
        <p:spPr>
          <a:xfrm>
            <a:off x="8321040" y="3200400"/>
            <a:ext cx="278339" cy="493776"/>
          </a:xfrm>
          <a:prstGeom prst="rect">
            <a:avLst/>
          </a:prstGeom>
          <a:solidFill>
            <a:srgbClr val="AEB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90819" y="3108960"/>
            <a:ext cx="2103120" cy="658368"/>
          </a:xfrm>
          <a:prstGeom prst="rect">
            <a:avLst/>
          </a:prstGeom>
          <a:noFill/>
        </p:spPr>
        <p:txBody>
          <a:bodyPr wrap="square" anchor="ctr" lIns="45720" rIns="45720">
            <a:spAutoFit/>
          </a:bodyPr>
          <a:lstStyle/>
          <a:p>
            <a:pPr algn="l">
              <a:spcAft>
                <a:spcPts val="600"/>
              </a:spcAft>
            </a:pPr>
            <a:r>
              <a:rPr sz="1600" b="0" i="0">
                <a:solidFill>
                  <a:srgbClr val="5B6272"/>
                </a:solidFill>
                <a:latin typeface="Calibri"/>
              </a:rPr>
              <a:t>883 kg</a:t>
            </a:r>
          </a:p>
        </p:txBody>
      </p:sp>
      <p:sp>
        <p:nvSpPr>
          <p:cNvPr id="20" name="TextBox 19"/>
          <p:cNvSpPr txBox="1"/>
          <p:nvPr/>
        </p:nvSpPr>
        <p:spPr>
          <a:xfrm>
            <a:off x="548640" y="4297680"/>
            <a:ext cx="11094415" cy="1097280"/>
          </a:xfrm>
          <a:prstGeom prst="rect">
            <a:avLst/>
          </a:prstGeom>
          <a:noFill/>
        </p:spPr>
        <p:txBody>
          <a:bodyPr wrap="square" anchor="t" lIns="45720" rIns="45720">
            <a:spAutoFit/>
          </a:bodyPr>
          <a:lstStyle/>
          <a:p>
            <a:pPr algn="l">
              <a:spcAft>
                <a:spcPts val="600"/>
              </a:spcAft>
            </a:pPr>
            <a:r>
              <a:rPr sz="1300" b="0" i="0">
                <a:solidFill>
                  <a:srgbClr val="5B6272"/>
                </a:solidFill>
                <a:latin typeface="Calibri"/>
              </a:rPr>
              <a:t>Same 1,851 kWh of solar used on site, synthetic. Grid 0.477 kg CO₂/kWh (IFI harmonised factor); petrol 2.35 kg CO₂/L (US EPA) at 0.8 L/kWh. The petrol case is an upper bound; the logger can measure the real split from grid-on and grid-off hours.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3200400" cy="274320"/>
          </a:xfrm>
          <a:prstGeom prst="rect">
            <a:avLst/>
          </a:prstGeom>
          <a:noFill/>
        </p:spPr>
        <p:txBody>
          <a:bodyPr wrap="square" anchor="t" lIns="45720" rIns="45720">
            <a:spAutoFit/>
          </a:bodyPr>
          <a:lstStyle/>
          <a:p>
            <a:pPr algn="l">
              <a:spcAft>
                <a:spcPts val="600"/>
              </a:spcAft>
            </a:pPr>
            <a:r>
              <a:rPr sz="1100" b="1" i="0">
                <a:solidFill>
                  <a:srgbClr val="7E8AA3"/>
                </a:solidFill>
                <a:latin typeface="Calibri"/>
              </a:rPr>
              <a:t>BACKUP</a:t>
            </a:r>
          </a:p>
        </p:txBody>
      </p:sp>
      <p:sp>
        <p:nvSpPr>
          <p:cNvPr id="3" name="TextBox 2"/>
          <p:cNvSpPr txBox="1"/>
          <p:nvPr/>
        </p:nvSpPr>
        <p:spPr>
          <a:xfrm>
            <a:off x="548640" y="502920"/>
            <a:ext cx="11094415" cy="914400"/>
          </a:xfrm>
          <a:prstGeom prst="rect">
            <a:avLst/>
          </a:prstGeom>
          <a:noFill/>
        </p:spPr>
        <p:txBody>
          <a:bodyPr wrap="square" anchor="t" lIns="45720" rIns="45720">
            <a:spAutoFit/>
          </a:bodyPr>
          <a:lstStyle/>
          <a:p>
            <a:pPr algn="l">
              <a:spcAft>
                <a:spcPts val="600"/>
              </a:spcAft>
            </a:pPr>
            <a:r>
              <a:rPr sz="3000" b="1" i="0">
                <a:solidFill>
                  <a:srgbClr val="1E2A44"/>
                </a:solidFill>
                <a:latin typeface="Calibri"/>
              </a:rPr>
              <a:t>Backup: how fast does it detect faults?</a:t>
            </a:r>
          </a:p>
        </p:txBody>
      </p:sp>
      <p:sp>
        <p:nvSpPr>
          <p:cNvPr id="4" name="TextBox 3"/>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i="0">
                <a:solidFill>
                  <a:srgbClr val="5B6272"/>
                </a:solidFill>
                <a:latin typeface="Calibri"/>
              </a:rPr>
              <a:t>Oyewale &amp; Meyer-Petgrave · NASEF 2026 · Petgrave.io</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spcAft>
                <a:spcPts val="600"/>
              </a:spcAft>
            </a:pPr>
            <a:r>
              <a:rPr sz="1000" b="0" i="0">
                <a:solidFill>
                  <a:srgbClr val="5B6272"/>
                </a:solidFill>
                <a:latin typeface="Calibri"/>
              </a:rPr>
              <a:t>18</a:t>
            </a:r>
          </a:p>
        </p:txBody>
      </p:sp>
      <p:sp>
        <p:nvSpPr>
          <p:cNvPr id="6" name="Rounded Rectangle 5"/>
          <p:cNvSpPr/>
          <p:nvPr/>
        </p:nvSpPr>
        <p:spPr>
          <a:xfrm>
            <a:off x="548640" y="1737360"/>
            <a:ext cx="11094415" cy="4480560"/>
          </a:xfrm>
          <a:prstGeom prst="roundRect">
            <a:avLst>
              <a:gd name="adj" fmla="val 6000"/>
            </a:avLst>
          </a:prstGeom>
          <a:solidFill>
            <a:srgbClr val="FFFFFF"/>
          </a:solidFill>
          <a:ln w="12700">
            <a:solidFill>
              <a:srgbClr val="4A5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74519"/>
            <a:ext cx="10728655" cy="4206240"/>
          </a:xfrm>
          <a:prstGeom prst="rect">
            <a:avLst/>
          </a:prstGeom>
          <a:noFill/>
        </p:spPr>
        <p:txBody>
          <a:bodyPr wrap="square" anchor="ctr" lIns="45720" rIns="45720">
            <a:spAutoFit/>
          </a:bodyPr>
          <a:lstStyle/>
          <a:p>
            <a:pPr algn="ctr">
              <a:spcAft>
                <a:spcPts val="600"/>
              </a:spcAft>
            </a:pPr>
            <a:r>
              <a:rPr sz="1400" b="0" i="0">
                <a:solidFill>
                  <a:srgbClr val="5B6272"/>
                </a:solidFill>
                <a:latin typeface="Calibri"/>
              </a:rPr>
              <a:t>[Timing supplement figure]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3200400" cy="274320"/>
          </a:xfrm>
          <a:prstGeom prst="rect">
            <a:avLst/>
          </a:prstGeom>
          <a:noFill/>
        </p:spPr>
        <p:txBody>
          <a:bodyPr wrap="square" anchor="t" lIns="45720" rIns="45720">
            <a:spAutoFit/>
          </a:bodyPr>
          <a:lstStyle/>
          <a:p>
            <a:pPr algn="l">
              <a:spcAft>
                <a:spcPts val="600"/>
              </a:spcAft>
            </a:pPr>
            <a:r>
              <a:rPr sz="1100" b="1" i="0">
                <a:solidFill>
                  <a:srgbClr val="7E8AA3"/>
                </a:solidFill>
                <a:latin typeface="Calibri"/>
              </a:rPr>
              <a:t>BACKUP</a:t>
            </a:r>
          </a:p>
        </p:txBody>
      </p:sp>
      <p:sp>
        <p:nvSpPr>
          <p:cNvPr id="3" name="TextBox 2"/>
          <p:cNvSpPr txBox="1"/>
          <p:nvPr/>
        </p:nvSpPr>
        <p:spPr>
          <a:xfrm>
            <a:off x="548640" y="502920"/>
            <a:ext cx="11094415" cy="914400"/>
          </a:xfrm>
          <a:prstGeom prst="rect">
            <a:avLst/>
          </a:prstGeom>
          <a:noFill/>
        </p:spPr>
        <p:txBody>
          <a:bodyPr wrap="square" anchor="t" lIns="45720" rIns="45720">
            <a:spAutoFit/>
          </a:bodyPr>
          <a:lstStyle/>
          <a:p>
            <a:pPr algn="l">
              <a:spcAft>
                <a:spcPts val="600"/>
              </a:spcAft>
            </a:pPr>
            <a:r>
              <a:rPr sz="3000" b="1" i="0">
                <a:solidFill>
                  <a:srgbClr val="1E2A44"/>
                </a:solidFill>
                <a:latin typeface="Calibri"/>
              </a:rPr>
              <a:t>Backup: reproduce it</a:t>
            </a:r>
          </a:p>
        </p:txBody>
      </p:sp>
      <p:sp>
        <p:nvSpPr>
          <p:cNvPr id="4" name="TextBox 3"/>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i="0">
                <a:solidFill>
                  <a:srgbClr val="5B6272"/>
                </a:solidFill>
                <a:latin typeface="Calibri"/>
              </a:rPr>
              <a:t>Oyewale &amp; Meyer-Petgrave · NASEF 2026 · Petgrave.io</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spcAft>
                <a:spcPts val="600"/>
              </a:spcAft>
            </a:pPr>
            <a:r>
              <a:rPr sz="1000" b="0" i="0">
                <a:solidFill>
                  <a:srgbClr val="5B6272"/>
                </a:solidFill>
                <a:latin typeface="Calibri"/>
              </a:rPr>
              <a:t>19</a:t>
            </a:r>
          </a:p>
        </p:txBody>
      </p:sp>
      <p:sp>
        <p:nvSpPr>
          <p:cNvPr id="6" name="Rounded Rectangle 5"/>
          <p:cNvSpPr/>
          <p:nvPr/>
        </p:nvSpPr>
        <p:spPr>
          <a:xfrm>
            <a:off x="548640" y="1737360"/>
            <a:ext cx="11094415" cy="4480560"/>
          </a:xfrm>
          <a:prstGeom prst="roundRect">
            <a:avLst>
              <a:gd name="adj" fmla="val 6000"/>
            </a:avLst>
          </a:prstGeom>
          <a:solidFill>
            <a:srgbClr val="FFFFFF"/>
          </a:solidFill>
          <a:ln w="12700">
            <a:solidFill>
              <a:srgbClr val="4A5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74519"/>
            <a:ext cx="10728655" cy="4206240"/>
          </a:xfrm>
          <a:prstGeom prst="rect">
            <a:avLst/>
          </a:prstGeom>
          <a:noFill/>
        </p:spPr>
        <p:txBody>
          <a:bodyPr wrap="square" anchor="ctr" lIns="45720" rIns="45720">
            <a:spAutoFit/>
          </a:bodyPr>
          <a:lstStyle/>
          <a:p>
            <a:pPr algn="ctr">
              <a:spcAft>
                <a:spcPts val="600"/>
              </a:spcAft>
            </a:pPr>
            <a:r>
              <a:rPr sz="1400" b="0" i="0">
                <a:solidFill>
                  <a:srgbClr val="5B6272"/>
                </a:solidFill>
                <a:latin typeface="Calibri"/>
              </a:rPr>
              <a:t>[README commands · verify_research_run.py]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